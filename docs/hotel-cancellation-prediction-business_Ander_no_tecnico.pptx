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0D7B-CE09-7492-F62D-CFF9D02E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C399B-1F9B-94D0-E30D-5BE7BF8C7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89FB6-F295-38E8-BC0F-9CF67CE49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21680-BCA8-288E-170C-C794A29C239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424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15CE689-AD92-47C8-ADF6-8B19B01D49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91222969-6D17-45C8-BD7B-0BEB46653C89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B076A18A-2645-49E0-B611-CCEC7B4F8D27}"/>
              </a:ext>
            </a:extLst>
          </p:cNvPr>
          <p:cNvSpPr>
            <a:spLocks noGrp="1"/>
          </p:cNvSpPr>
          <p:nvPr/>
        </p:nvSpPr>
        <p:spPr>
          <a:xfrm>
            <a:off x="1123950" y="400050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8F51A-A944-4247-A7A0-35C63E6C5D4A}"/>
              </a:ext>
            </a:extLst>
          </p:cNvPr>
          <p:cNvSpPr>
            <a:spLocks noGrp="1"/>
          </p:cNvSpPr>
          <p:nvPr/>
        </p:nvSpPr>
        <p:spPr>
          <a:xfrm>
            <a:off x="571500" y="656704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Pitch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B359C-A0C2-4D1C-A34C-147824FFC799}"/>
              </a:ext>
            </a:extLst>
          </p:cNvPr>
          <p:cNvSpPr>
            <a:spLocks noGrp="1"/>
          </p:cNvSpPr>
          <p:nvPr/>
        </p:nvSpPr>
        <p:spPr>
          <a:xfrm>
            <a:off x="555567" y="1254441"/>
            <a:ext cx="7080365" cy="7010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9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9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Booking Risk Management (BRM)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E9BB01-3C27-4F0E-BAEC-69D1739E7ACA}"/>
              </a:ext>
            </a:extLst>
          </p:cNvPr>
          <p:cNvSpPr>
            <a:spLocks noGrp="1"/>
          </p:cNvSpPr>
          <p:nvPr/>
        </p:nvSpPr>
        <p:spPr>
          <a:xfrm>
            <a:off x="619125" y="2221663"/>
            <a:ext cx="6543675" cy="1590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lang="en-US" sz="165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BRM </a:t>
            </a:r>
            <a:r>
              <a:rPr lang="es-ES" sz="1650" dirty="0"/>
              <a:t>ayuda a anticipar cancelaciones de reservas hoteleras antes de que impacten en ocupación e ingresos.</a:t>
            </a:r>
            <a:endParaRPr lang="en-US" sz="165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6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endParaRPr lang="en-US" sz="165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lang="en-US" sz="165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“</a:t>
            </a:r>
            <a:r>
              <a:rPr lang="es-ES" sz="1650" b="1" dirty="0"/>
              <a:t>Una habitación vacía a última hora no se recupera; una mala experiencia por overbooking, tampoco.</a:t>
            </a:r>
            <a:r>
              <a:rPr lang="en-US" sz="165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” Ander Heriz</a:t>
            </a:r>
            <a:endParaRPr sz="165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169325-75FD-4024-BBBD-E4844DF41442}"/>
              </a:ext>
            </a:extLst>
          </p:cNvPr>
          <p:cNvSpPr>
            <a:spLocks noGrp="1"/>
          </p:cNvSpPr>
          <p:nvPr/>
        </p:nvSpPr>
        <p:spPr>
          <a:xfrm>
            <a:off x="906088" y="4160000"/>
            <a:ext cx="1604356" cy="1047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07CCB4-914B-43B8-9616-70DCB7321B1C}"/>
              </a:ext>
            </a:extLst>
          </p:cNvPr>
          <p:cNvSpPr>
            <a:spLocks noGrp="1"/>
          </p:cNvSpPr>
          <p:nvPr/>
        </p:nvSpPr>
        <p:spPr>
          <a:xfrm>
            <a:off x="875954" y="4283825"/>
            <a:ext cx="163449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D95D39"/>
                </a:solidFill>
                <a:latin typeface="Aptos"/>
                <a:ea typeface="Aptos"/>
                <a:cs typeface="Aptos"/>
              </a:rPr>
              <a:t>37,3%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5021A1-0E9B-4FA6-99EC-252E5C7EC640}"/>
              </a:ext>
            </a:extLst>
          </p:cNvPr>
          <p:cNvSpPr>
            <a:spLocks noGrp="1"/>
          </p:cNvSpPr>
          <p:nvPr/>
        </p:nvSpPr>
        <p:spPr>
          <a:xfrm>
            <a:off x="875954" y="4702925"/>
            <a:ext cx="163449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cancelaciones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11D624-865F-406A-BBF7-8AAF64E6F0C7}"/>
              </a:ext>
            </a:extLst>
          </p:cNvPr>
          <p:cNvSpPr>
            <a:spLocks noGrp="1"/>
          </p:cNvSpPr>
          <p:nvPr/>
        </p:nvSpPr>
        <p:spPr>
          <a:xfrm>
            <a:off x="875954" y="4922000"/>
            <a:ext cx="163449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histórico analizado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2E3C46-A57D-4122-A3C9-B5BA9891FE69}"/>
              </a:ext>
            </a:extLst>
          </p:cNvPr>
          <p:cNvSpPr>
            <a:spLocks noGrp="1"/>
          </p:cNvSpPr>
          <p:nvPr/>
        </p:nvSpPr>
        <p:spPr>
          <a:xfrm>
            <a:off x="2931969" y="4283825"/>
            <a:ext cx="163449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118.564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DA5CFF-5CF3-4800-BFE0-D6241EC29203}"/>
              </a:ext>
            </a:extLst>
          </p:cNvPr>
          <p:cNvSpPr>
            <a:spLocks noGrp="1"/>
          </p:cNvSpPr>
          <p:nvPr/>
        </p:nvSpPr>
        <p:spPr>
          <a:xfrm>
            <a:off x="2729519" y="4794581"/>
            <a:ext cx="163449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reservas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analiz</a:t>
            </a:r>
            <a:r>
              <a:rPr lang="es-ES"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a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das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A6A8FE-A819-4B3A-A18D-5EC0F9852680}"/>
              </a:ext>
            </a:extLst>
          </p:cNvPr>
          <p:cNvSpPr>
            <a:spLocks noGrp="1"/>
          </p:cNvSpPr>
          <p:nvPr/>
        </p:nvSpPr>
        <p:spPr>
          <a:xfrm>
            <a:off x="5045838" y="4179050"/>
            <a:ext cx="1810997" cy="1047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6A075E-EDCB-42B6-95A4-26F6AD4CA49C}"/>
              </a:ext>
            </a:extLst>
          </p:cNvPr>
          <p:cNvSpPr>
            <a:spLocks noGrp="1"/>
          </p:cNvSpPr>
          <p:nvPr/>
        </p:nvSpPr>
        <p:spPr>
          <a:xfrm>
            <a:off x="5026288" y="4807183"/>
            <a:ext cx="1893933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ocupación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e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ingresos</a:t>
            </a:r>
            <a:endParaRPr sz="12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9BE865-632D-4E21-ADB4-D3019784DD6F}"/>
              </a:ext>
            </a:extLst>
          </p:cNvPr>
          <p:cNvSpPr>
            <a:spLocks noGrp="1"/>
          </p:cNvSpPr>
          <p:nvPr/>
        </p:nvSpPr>
        <p:spPr>
          <a:xfrm>
            <a:off x="8207432" y="871538"/>
            <a:ext cx="3286125" cy="45910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831FF9-5866-4D4B-9B58-D29ECF70EC17}"/>
              </a:ext>
            </a:extLst>
          </p:cNvPr>
          <p:cNvSpPr>
            <a:spLocks noGrp="1"/>
          </p:cNvSpPr>
          <p:nvPr/>
        </p:nvSpPr>
        <p:spPr>
          <a:xfrm>
            <a:off x="8207432" y="871538"/>
            <a:ext cx="3286125" cy="857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46FF7E-D20E-44B8-B3B8-76AE5FE985BE}"/>
              </a:ext>
            </a:extLst>
          </p:cNvPr>
          <p:cNvSpPr>
            <a:spLocks noGrp="1"/>
          </p:cNvSpPr>
          <p:nvPr/>
        </p:nvSpPr>
        <p:spPr>
          <a:xfrm>
            <a:off x="8207432" y="3290888"/>
            <a:ext cx="3286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Autor</a:t>
            </a:r>
            <a:endParaRPr sz="1000" b="1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F2EA89-F4BE-44D9-A3E2-17C10CF403F6}"/>
              </a:ext>
            </a:extLst>
          </p:cNvPr>
          <p:cNvSpPr>
            <a:spLocks noGrp="1"/>
          </p:cNvSpPr>
          <p:nvPr/>
        </p:nvSpPr>
        <p:spPr>
          <a:xfrm>
            <a:off x="8207432" y="3576638"/>
            <a:ext cx="32861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0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Ander Heriz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1EED3B-F41A-417F-A444-B3808A2D1FB2}"/>
              </a:ext>
            </a:extLst>
          </p:cNvPr>
          <p:cNvSpPr>
            <a:spLocks noGrp="1"/>
          </p:cNvSpPr>
          <p:nvPr/>
        </p:nvSpPr>
        <p:spPr>
          <a:xfrm>
            <a:off x="8645582" y="4071938"/>
            <a:ext cx="2400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Bootcamp de Data Science</a:t>
            </a:r>
          </a:p>
          <a:p>
            <a:pPr algn="ctr">
              <a:buNone/>
              <a:defRPr sz="12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de The Bridge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55D8DB-AA07-4DC8-A3AB-7E29A7F81E7A}"/>
              </a:ext>
            </a:extLst>
          </p:cNvPr>
          <p:cNvSpPr>
            <a:spLocks noGrp="1"/>
          </p:cNvSpPr>
          <p:nvPr/>
        </p:nvSpPr>
        <p:spPr>
          <a:xfrm>
            <a:off x="8626532" y="4814888"/>
            <a:ext cx="2428875" cy="1333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CC7FA1-9E55-4EFA-A2C6-07A045E8F3E8}"/>
              </a:ext>
            </a:extLst>
          </p:cNvPr>
          <p:cNvSpPr>
            <a:spLocks noGrp="1"/>
          </p:cNvSpPr>
          <p:nvPr/>
        </p:nvSpPr>
        <p:spPr>
          <a:xfrm>
            <a:off x="8455082" y="5024438"/>
            <a:ext cx="2800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Presentación negocio - Solución predictiva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C8F220-3888-4EF1-92D0-91DCD6458724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0F6E05-9B18-4F09-9EEA-864DCF9A0528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Fuentes: Hotel Booking Demand (Kaggle); arXiv 2024; Investopedia RevPAR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F529F4-64BB-4484-B084-058B73CCCD24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01 / 10</a:t>
            </a:r>
          </a:p>
        </p:txBody>
      </p:sp>
      <p:pic>
        <p:nvPicPr>
          <p:cNvPr id="6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40857" y="1290638"/>
            <a:ext cx="1809750" cy="18097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FC710F-4C20-19A4-2BDC-D7870AE075F1}"/>
              </a:ext>
            </a:extLst>
          </p:cNvPr>
          <p:cNvSpPr>
            <a:spLocks noGrp="1"/>
          </p:cNvSpPr>
          <p:nvPr/>
        </p:nvSpPr>
        <p:spPr>
          <a:xfrm>
            <a:off x="2909812" y="4144413"/>
            <a:ext cx="1736658" cy="1047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2C2E48-36F8-C305-2B1E-98DA9B29E289}"/>
              </a:ext>
            </a:extLst>
          </p:cNvPr>
          <p:cNvSpPr>
            <a:spLocks noGrp="1"/>
          </p:cNvSpPr>
          <p:nvPr/>
        </p:nvSpPr>
        <p:spPr>
          <a:xfrm>
            <a:off x="3128887" y="4268238"/>
            <a:ext cx="163449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118.564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00EF9F-BCC4-208E-35CE-7FE4422EA91B}"/>
              </a:ext>
            </a:extLst>
          </p:cNvPr>
          <p:cNvSpPr>
            <a:spLocks noGrp="1"/>
          </p:cNvSpPr>
          <p:nvPr/>
        </p:nvSpPr>
        <p:spPr>
          <a:xfrm>
            <a:off x="2926437" y="4778994"/>
            <a:ext cx="163449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reservas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analiz</a:t>
            </a:r>
            <a:r>
              <a:rPr lang="es-ES"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a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das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BBA401-7EDE-6078-4EB7-D6303F102219}"/>
              </a:ext>
            </a:extLst>
          </p:cNvPr>
          <p:cNvSpPr>
            <a:spLocks noGrp="1"/>
          </p:cNvSpPr>
          <p:nvPr/>
        </p:nvSpPr>
        <p:spPr>
          <a:xfrm>
            <a:off x="4962902" y="4293352"/>
            <a:ext cx="189393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/>
                <a:ea typeface="Aptos"/>
                <a:cs typeface="Aptos"/>
              </a:rPr>
              <a:t>Impacto</a:t>
            </a:r>
          </a:p>
        </p:txBody>
      </p:sp>
    </p:spTree>
    <p:extLst>
      <p:ext uri="{BB962C8B-B14F-4D97-AF65-F5344CB8AC3E}">
        <p14:creationId xmlns:p14="http://schemas.microsoft.com/office/powerpoint/2010/main" val="202189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B09BC5C-D962-4934-9230-1488A93C03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EB85D8CB-DCF0-4CD3-A03A-44A21FABAA01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A1E08712-044A-4EE1-BC23-DD20E908179C}"/>
              </a:ext>
            </a:extLst>
          </p:cNvPr>
          <p:cNvSpPr>
            <a:spLocks noGrp="1"/>
          </p:cNvSpPr>
          <p:nvPr/>
        </p:nvSpPr>
        <p:spPr>
          <a:xfrm>
            <a:off x="1123950" y="409575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86CED641-2B5B-43AA-8B59-B1A1E6C36E14}"/>
              </a:ext>
            </a:extLst>
          </p:cNvPr>
          <p:cNvSpPr>
            <a:spLocks noGrp="1"/>
          </p:cNvSpPr>
          <p:nvPr/>
        </p:nvSpPr>
        <p:spPr>
          <a:xfrm>
            <a:off x="571500" y="561975"/>
            <a:ext cx="742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345B41-6CA9-4B0D-8743-9E769213576C}"/>
              </a:ext>
            </a:extLst>
          </p:cNvPr>
          <p:cNvSpPr>
            <a:spLocks noGrp="1"/>
          </p:cNvSpPr>
          <p:nvPr/>
        </p:nvSpPr>
        <p:spPr>
          <a:xfrm>
            <a:off x="571500" y="962025"/>
            <a:ext cx="10201276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El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impacto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económico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aparece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cuando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habitación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reservada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acaba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vacía</a:t>
            </a:r>
            <a:endParaRPr sz="2600" b="1" dirty="0">
              <a:solidFill>
                <a:srgbClr val="1721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C5C65D-639A-4938-96EE-F2DA28E7B9D6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C8ADF8-E37F-4B37-AC82-454C63C87052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Fuentes: Hotel Booking Demand (Kaggle); arXiv 2024; Investopedia RevPAR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CDB502-4866-4815-B2CB-1BEF987E297B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02 /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C2E677-221A-485B-A6B8-814D5DA3E1B6}"/>
              </a:ext>
            </a:extLst>
          </p:cNvPr>
          <p:cNvSpPr>
            <a:spLocks noGrp="1"/>
          </p:cNvSpPr>
          <p:nvPr/>
        </p:nvSpPr>
        <p:spPr>
          <a:xfrm>
            <a:off x="633500" y="2271713"/>
            <a:ext cx="10838064" cy="3409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FE4157-663C-4EBC-B31E-2A2927712FBE}"/>
              </a:ext>
            </a:extLst>
          </p:cNvPr>
          <p:cNvSpPr>
            <a:spLocks noGrp="1"/>
          </p:cNvSpPr>
          <p:nvPr/>
        </p:nvSpPr>
        <p:spPr>
          <a:xfrm>
            <a:off x="1062125" y="2833688"/>
            <a:ext cx="2476500" cy="1257300"/>
          </a:xfrm>
          <a:prstGeom prst="rect">
            <a:avLst/>
          </a:prstGeom>
          <a:solidFill>
            <a:srgbClr val="DAE8E1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CA03AB-8DFF-4D27-B2DA-AAC6642D3481}"/>
              </a:ext>
            </a:extLst>
          </p:cNvPr>
          <p:cNvSpPr>
            <a:spLocks noGrp="1"/>
          </p:cNvSpPr>
          <p:nvPr/>
        </p:nvSpPr>
        <p:spPr>
          <a:xfrm>
            <a:off x="1271675" y="3052763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Reserva recibida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826754-D5B6-4CC8-85A6-83F8297998FE}"/>
              </a:ext>
            </a:extLst>
          </p:cNvPr>
          <p:cNvSpPr>
            <a:spLocks noGrp="1"/>
          </p:cNvSpPr>
          <p:nvPr/>
        </p:nvSpPr>
        <p:spPr>
          <a:xfrm>
            <a:off x="1271675" y="3414713"/>
            <a:ext cx="2038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El hotel acepta la habitación como ocupada en previsión.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E0BD4-6BCB-4733-8100-01FA929F30AC}"/>
              </a:ext>
            </a:extLst>
          </p:cNvPr>
          <p:cNvSpPr>
            <a:spLocks noGrp="1"/>
          </p:cNvSpPr>
          <p:nvPr/>
        </p:nvSpPr>
        <p:spPr>
          <a:xfrm>
            <a:off x="3776750" y="3424238"/>
            <a:ext cx="1047750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7A9E1C-A9E5-4956-8023-383D3522821B}"/>
              </a:ext>
            </a:extLst>
          </p:cNvPr>
          <p:cNvSpPr>
            <a:spLocks noGrp="1"/>
          </p:cNvSpPr>
          <p:nvPr/>
        </p:nvSpPr>
        <p:spPr>
          <a:xfrm>
            <a:off x="4738775" y="3348038"/>
            <a:ext cx="133350" cy="1809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63C5A7-1429-4FB6-92BE-FCD834500466}"/>
              </a:ext>
            </a:extLst>
          </p:cNvPr>
          <p:cNvSpPr>
            <a:spLocks noGrp="1"/>
          </p:cNvSpPr>
          <p:nvPr/>
        </p:nvSpPr>
        <p:spPr>
          <a:xfrm>
            <a:off x="4776875" y="2833688"/>
            <a:ext cx="2476500" cy="1257300"/>
          </a:xfrm>
          <a:prstGeom prst="rect">
            <a:avLst/>
          </a:prstGeom>
          <a:solidFill>
            <a:srgbClr val="E9E2D2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4B8C5A-9946-4A31-BF02-8F4361B34D41}"/>
              </a:ext>
            </a:extLst>
          </p:cNvPr>
          <p:cNvSpPr>
            <a:spLocks noGrp="1"/>
          </p:cNvSpPr>
          <p:nvPr/>
        </p:nvSpPr>
        <p:spPr>
          <a:xfrm>
            <a:off x="4986425" y="3052763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Tiempo de espera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03F1BA-A363-430B-AF05-F914C9242AC4}"/>
              </a:ext>
            </a:extLst>
          </p:cNvPr>
          <p:cNvSpPr>
            <a:spLocks noGrp="1"/>
          </p:cNvSpPr>
          <p:nvPr/>
        </p:nvSpPr>
        <p:spPr>
          <a:xfrm>
            <a:off x="4986425" y="3414713"/>
            <a:ext cx="2038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Pueden pasar días o meses hasta la fecha de llegada.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B0F48D-328D-4156-9ACF-308358311275}"/>
              </a:ext>
            </a:extLst>
          </p:cNvPr>
          <p:cNvSpPr>
            <a:spLocks noGrp="1"/>
          </p:cNvSpPr>
          <p:nvPr/>
        </p:nvSpPr>
        <p:spPr>
          <a:xfrm>
            <a:off x="7491500" y="3424238"/>
            <a:ext cx="1047750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CFA3AF-C0DE-427D-B1D8-B52767A48EE7}"/>
              </a:ext>
            </a:extLst>
          </p:cNvPr>
          <p:cNvSpPr>
            <a:spLocks noGrp="1"/>
          </p:cNvSpPr>
          <p:nvPr/>
        </p:nvSpPr>
        <p:spPr>
          <a:xfrm>
            <a:off x="8453525" y="3348038"/>
            <a:ext cx="133350" cy="1809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CD7D6F-A1BE-4AF6-BA64-F9FF25DE8E04}"/>
              </a:ext>
            </a:extLst>
          </p:cNvPr>
          <p:cNvSpPr>
            <a:spLocks noGrp="1"/>
          </p:cNvSpPr>
          <p:nvPr/>
        </p:nvSpPr>
        <p:spPr>
          <a:xfrm>
            <a:off x="8491625" y="2833688"/>
            <a:ext cx="2476500" cy="1257300"/>
          </a:xfrm>
          <a:prstGeom prst="rect">
            <a:avLst/>
          </a:prstGeom>
          <a:solidFill>
            <a:srgbClr val="F3D2C8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52FFED-B78F-46EF-B1C5-461DDF192761}"/>
              </a:ext>
            </a:extLst>
          </p:cNvPr>
          <p:cNvSpPr>
            <a:spLocks noGrp="1"/>
          </p:cNvSpPr>
          <p:nvPr/>
        </p:nvSpPr>
        <p:spPr>
          <a:xfrm>
            <a:off x="8701175" y="3052763"/>
            <a:ext cx="205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Llegada prevista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DF02EA-1797-48CA-ABCC-BBA6AC699C10}"/>
              </a:ext>
            </a:extLst>
          </p:cNvPr>
          <p:cNvSpPr>
            <a:spLocks noGrp="1"/>
          </p:cNvSpPr>
          <p:nvPr/>
        </p:nvSpPr>
        <p:spPr>
          <a:xfrm>
            <a:off x="8701175" y="3414713"/>
            <a:ext cx="2038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Si cancela tarde, hay menos margen para reaccionar.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423B65-0AA0-4BD0-A7FB-19FAE4D87B6A}"/>
              </a:ext>
            </a:extLst>
          </p:cNvPr>
          <p:cNvSpPr>
            <a:spLocks noGrp="1"/>
          </p:cNvSpPr>
          <p:nvPr/>
        </p:nvSpPr>
        <p:spPr>
          <a:xfrm>
            <a:off x="1529890" y="4464844"/>
            <a:ext cx="2190750" cy="10287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909B5-9E99-4FC4-9C3D-71C66F25FBF9}"/>
              </a:ext>
            </a:extLst>
          </p:cNvPr>
          <p:cNvSpPr>
            <a:spLocks noGrp="1"/>
          </p:cNvSpPr>
          <p:nvPr/>
        </p:nvSpPr>
        <p:spPr>
          <a:xfrm>
            <a:off x="1682290" y="4588669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37,3%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6FDBB2-983C-4B39-90CA-BF4B9198D30D}"/>
              </a:ext>
            </a:extLst>
          </p:cNvPr>
          <p:cNvSpPr>
            <a:spLocks noGrp="1"/>
          </p:cNvSpPr>
          <p:nvPr/>
        </p:nvSpPr>
        <p:spPr>
          <a:xfrm>
            <a:off x="1682290" y="4998244"/>
            <a:ext cx="1885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de reservas canceladas en el histórico analizado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41636D-41D3-4B3E-BA93-49970D2B3B69}"/>
              </a:ext>
            </a:extLst>
          </p:cNvPr>
          <p:cNvSpPr>
            <a:spLocks noGrp="1"/>
          </p:cNvSpPr>
          <p:nvPr/>
        </p:nvSpPr>
        <p:spPr>
          <a:xfrm>
            <a:off x="4192040" y="4471988"/>
            <a:ext cx="2190750" cy="10287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650B81-9CE6-4CF9-907A-B7DDEF2A01C4}"/>
              </a:ext>
            </a:extLst>
          </p:cNvPr>
          <p:cNvSpPr>
            <a:spLocks noGrp="1"/>
          </p:cNvSpPr>
          <p:nvPr/>
        </p:nvSpPr>
        <p:spPr>
          <a:xfrm>
            <a:off x="4344440" y="4595813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C4862C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C4862C"/>
                </a:solidFill>
                <a:latin typeface="Aptos"/>
                <a:ea typeface="Aptos"/>
                <a:cs typeface="Aptos"/>
              </a:rPr>
              <a:t>Valor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070E61-5F28-4E4E-8D1B-E1F0F769C778}"/>
              </a:ext>
            </a:extLst>
          </p:cNvPr>
          <p:cNvSpPr>
            <a:spLocks noGrp="1"/>
          </p:cNvSpPr>
          <p:nvPr/>
        </p:nvSpPr>
        <p:spPr>
          <a:xfrm>
            <a:off x="4344440" y="5005388"/>
            <a:ext cx="1885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anticipar</a:t>
            </a: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protege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margen</a:t>
            </a: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de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reacción</a:t>
            </a: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,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ocupación</a:t>
            </a: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e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ingresos</a:t>
            </a:r>
            <a:endParaRPr sz="11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BCB909-1F31-4006-B971-542AF13CC042}"/>
              </a:ext>
            </a:extLst>
          </p:cNvPr>
          <p:cNvSpPr>
            <a:spLocks noGrp="1"/>
          </p:cNvSpPr>
          <p:nvPr/>
        </p:nvSpPr>
        <p:spPr>
          <a:xfrm>
            <a:off x="6763789" y="4471988"/>
            <a:ext cx="2476499" cy="10287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E2C851-1941-4A90-9AF0-D81A49CC076C}"/>
              </a:ext>
            </a:extLst>
          </p:cNvPr>
          <p:cNvSpPr>
            <a:spLocks noGrp="1"/>
          </p:cNvSpPr>
          <p:nvPr/>
        </p:nvSpPr>
        <p:spPr>
          <a:xfrm>
            <a:off x="6916190" y="4595813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Industria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D46BCF-7490-4B74-AC84-5E16BFE23BBE}"/>
              </a:ext>
            </a:extLst>
          </p:cNvPr>
          <p:cNvSpPr>
            <a:spLocks noGrp="1"/>
          </p:cNvSpPr>
          <p:nvPr/>
        </p:nvSpPr>
        <p:spPr>
          <a:xfrm>
            <a:off x="6916190" y="5005388"/>
            <a:ext cx="2157152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las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cancelaciones</a:t>
            </a: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obligan</a:t>
            </a: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a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ajustar</a:t>
            </a: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previsión</a:t>
            </a: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,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ocupación</a:t>
            </a:r>
            <a:r>
              <a:rPr sz="11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y </a:t>
            </a:r>
            <a:r>
              <a:rPr sz="11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precio</a:t>
            </a:r>
            <a:endParaRPr sz="11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8694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BA4E6B3-F379-42E9-B5ED-9CB19F48C9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D89B4058-894C-4AAB-B6AF-CFD0914DD438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AFED8579-EA30-437D-BB3F-EA0447139EF8}"/>
              </a:ext>
            </a:extLst>
          </p:cNvPr>
          <p:cNvSpPr>
            <a:spLocks noGrp="1"/>
          </p:cNvSpPr>
          <p:nvPr/>
        </p:nvSpPr>
        <p:spPr>
          <a:xfrm>
            <a:off x="1123950" y="409575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3CA829DA-19B9-4A76-A156-5E6ECC236B7F}"/>
              </a:ext>
            </a:extLst>
          </p:cNvPr>
          <p:cNvSpPr>
            <a:spLocks noGrp="1"/>
          </p:cNvSpPr>
          <p:nvPr/>
        </p:nvSpPr>
        <p:spPr>
          <a:xfrm>
            <a:off x="571500" y="561975"/>
            <a:ext cx="742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OPORTUNIDAD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75C8E-7C9C-44BC-9A0C-E883C547AE9A}"/>
              </a:ext>
            </a:extLst>
          </p:cNvPr>
          <p:cNvSpPr>
            <a:spLocks noGrp="1"/>
          </p:cNvSpPr>
          <p:nvPr/>
        </p:nvSpPr>
        <p:spPr>
          <a:xfrm>
            <a:off x="571500" y="1028441"/>
            <a:ext cx="10517678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El histórico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contiene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señales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previas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cambian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el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riesgo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cancelación</a:t>
            </a:r>
            <a:endParaRPr sz="2600" b="1" dirty="0">
              <a:solidFill>
                <a:srgbClr val="1721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B0D97D-7DFF-42B1-8F91-6DD3E29026FE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21459-FFAC-4813-AF26-C221251DD1A6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Fuente: Hotel Booking Demand (Kaggle) + demo operativa propia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DEFF1B-B401-423D-8D66-C7E61DF29962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03 /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754618-AF3C-4A1F-9362-93E924AEB12B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5676900" cy="3733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16F836-9C1A-4EA2-9D23-51945EA22DF3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Antelación</a:t>
            </a:r>
            <a:r>
              <a:rPr sz="1600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de </a:t>
            </a:r>
            <a:r>
              <a:rPr sz="16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reserva</a:t>
            </a:r>
            <a:endParaRPr sz="1600" b="1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646561-17DB-4412-8A24-56AF56B64944}"/>
              </a:ext>
            </a:extLst>
          </p:cNvPr>
          <p:cNvSpPr>
            <a:spLocks noGrp="1"/>
          </p:cNvSpPr>
          <p:nvPr/>
        </p:nvSpPr>
        <p:spPr>
          <a:xfrm>
            <a:off x="971550" y="4021217"/>
            <a:ext cx="514350" cy="207883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401F84-98E6-45AD-816D-8EFB05E8149A}"/>
              </a:ext>
            </a:extLst>
          </p:cNvPr>
          <p:cNvSpPr>
            <a:spLocks noGrp="1"/>
          </p:cNvSpPr>
          <p:nvPr/>
        </p:nvSpPr>
        <p:spPr>
          <a:xfrm>
            <a:off x="876300" y="3792617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9,7%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6C21A2-E881-4117-B9C9-7CD810F89EFD}"/>
              </a:ext>
            </a:extLst>
          </p:cNvPr>
          <p:cNvSpPr>
            <a:spLocks noGrp="1"/>
          </p:cNvSpPr>
          <p:nvPr/>
        </p:nvSpPr>
        <p:spPr>
          <a:xfrm>
            <a:off x="838200" y="43434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0-7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63D831-ADB0-40B9-A856-4CFFC72E1FB6}"/>
              </a:ext>
            </a:extLst>
          </p:cNvPr>
          <p:cNvSpPr>
            <a:spLocks noGrp="1"/>
          </p:cNvSpPr>
          <p:nvPr/>
        </p:nvSpPr>
        <p:spPr>
          <a:xfrm>
            <a:off x="1885950" y="3629025"/>
            <a:ext cx="514350" cy="60007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0C7A5E-EA25-47B0-863B-40E6E44241B1}"/>
              </a:ext>
            </a:extLst>
          </p:cNvPr>
          <p:cNvSpPr>
            <a:spLocks noGrp="1"/>
          </p:cNvSpPr>
          <p:nvPr/>
        </p:nvSpPr>
        <p:spPr>
          <a:xfrm>
            <a:off x="1790700" y="3400425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28,0%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0278E8-3E37-46A5-A3C8-A5DD33064F28}"/>
              </a:ext>
            </a:extLst>
          </p:cNvPr>
          <p:cNvSpPr>
            <a:spLocks noGrp="1"/>
          </p:cNvSpPr>
          <p:nvPr/>
        </p:nvSpPr>
        <p:spPr>
          <a:xfrm>
            <a:off x="1752600" y="43434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8-30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417A65-E408-486B-B5F7-CC12990812E6}"/>
              </a:ext>
            </a:extLst>
          </p:cNvPr>
          <p:cNvSpPr>
            <a:spLocks noGrp="1"/>
          </p:cNvSpPr>
          <p:nvPr/>
        </p:nvSpPr>
        <p:spPr>
          <a:xfrm>
            <a:off x="2800350" y="3418999"/>
            <a:ext cx="514350" cy="810101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B1A62F-F1E4-4E27-BA8C-EEA1632304AE}"/>
              </a:ext>
            </a:extLst>
          </p:cNvPr>
          <p:cNvSpPr>
            <a:spLocks noGrp="1"/>
          </p:cNvSpPr>
          <p:nvPr/>
        </p:nvSpPr>
        <p:spPr>
          <a:xfrm>
            <a:off x="2705100" y="3190399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37,8%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EA6007-B87D-4357-A86B-9BEAC8984EBA}"/>
              </a:ext>
            </a:extLst>
          </p:cNvPr>
          <p:cNvSpPr>
            <a:spLocks noGrp="1"/>
          </p:cNvSpPr>
          <p:nvPr/>
        </p:nvSpPr>
        <p:spPr>
          <a:xfrm>
            <a:off x="2667000" y="43434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31-90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F5FA92-4F41-455C-A62F-6FD7326B90C1}"/>
              </a:ext>
            </a:extLst>
          </p:cNvPr>
          <p:cNvSpPr>
            <a:spLocks noGrp="1"/>
          </p:cNvSpPr>
          <p:nvPr/>
        </p:nvSpPr>
        <p:spPr>
          <a:xfrm>
            <a:off x="3714750" y="3268980"/>
            <a:ext cx="514350" cy="96012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198E82-8D4F-443D-A1DB-CAD1371309CA}"/>
              </a:ext>
            </a:extLst>
          </p:cNvPr>
          <p:cNvSpPr>
            <a:spLocks noGrp="1"/>
          </p:cNvSpPr>
          <p:nvPr/>
        </p:nvSpPr>
        <p:spPr>
          <a:xfrm>
            <a:off x="3619500" y="304038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44,8%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E14384-C701-4859-9CE7-B13991D5AF7A}"/>
              </a:ext>
            </a:extLst>
          </p:cNvPr>
          <p:cNvSpPr>
            <a:spLocks noGrp="1"/>
          </p:cNvSpPr>
          <p:nvPr/>
        </p:nvSpPr>
        <p:spPr>
          <a:xfrm>
            <a:off x="3581400" y="43434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91-180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B702B3-D64E-4A56-8B0A-45FE951C9F09}"/>
              </a:ext>
            </a:extLst>
          </p:cNvPr>
          <p:cNvSpPr>
            <a:spLocks noGrp="1"/>
          </p:cNvSpPr>
          <p:nvPr/>
        </p:nvSpPr>
        <p:spPr>
          <a:xfrm>
            <a:off x="4629150" y="3005376"/>
            <a:ext cx="514350" cy="1223724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29D57B-6872-4FA5-BF17-7F4031FF5ACE}"/>
              </a:ext>
            </a:extLst>
          </p:cNvPr>
          <p:cNvSpPr>
            <a:spLocks noGrp="1"/>
          </p:cNvSpPr>
          <p:nvPr/>
        </p:nvSpPr>
        <p:spPr>
          <a:xfrm>
            <a:off x="4533900" y="2776776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57,1%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5EB985-BEC4-469D-9FF9-9532282FF89A}"/>
              </a:ext>
            </a:extLst>
          </p:cNvPr>
          <p:cNvSpPr>
            <a:spLocks noGrp="1"/>
          </p:cNvSpPr>
          <p:nvPr/>
        </p:nvSpPr>
        <p:spPr>
          <a:xfrm>
            <a:off x="4495800" y="4343400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181+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BE5807-2839-44F7-9971-3C8F800B795F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4743450" cy="12383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D415E4-F66F-420A-AB24-32C6944A7588}"/>
              </a:ext>
            </a:extLst>
          </p:cNvPr>
          <p:cNvSpPr>
            <a:spLocks noGrp="1"/>
          </p:cNvSpPr>
          <p:nvPr/>
        </p:nvSpPr>
        <p:spPr>
          <a:xfrm>
            <a:off x="876300" y="4819650"/>
            <a:ext cx="447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Cuanta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más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antelación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,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más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incertidumbre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: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el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riesgo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observado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sube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de 9,7% a 57,1%.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917766-7FEC-45B7-99AC-8816491F82EB}"/>
              </a:ext>
            </a:extLst>
          </p:cNvPr>
          <p:cNvSpPr>
            <a:spLocks noGrp="1"/>
          </p:cNvSpPr>
          <p:nvPr/>
        </p:nvSpPr>
        <p:spPr>
          <a:xfrm>
            <a:off x="6324600" y="1924050"/>
            <a:ext cx="4991100" cy="37338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CAE068-3B64-442E-86BB-F1B3150CF9BC}"/>
              </a:ext>
            </a:extLst>
          </p:cNvPr>
          <p:cNvSpPr>
            <a:spLocks noGrp="1"/>
          </p:cNvSpPr>
          <p:nvPr/>
        </p:nvSpPr>
        <p:spPr>
          <a:xfrm>
            <a:off x="6667500" y="2152650"/>
            <a:ext cx="4286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Condiciones</a:t>
            </a:r>
            <a:r>
              <a:rPr sz="1600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y </a:t>
            </a:r>
            <a:r>
              <a:rPr sz="16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señales</a:t>
            </a:r>
            <a:r>
              <a:rPr sz="1600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de </a:t>
            </a:r>
            <a:r>
              <a:rPr sz="16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compromiso</a:t>
            </a:r>
            <a:endParaRPr sz="1600" b="1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27C703-12B5-439D-B07B-78B289F54257}"/>
              </a:ext>
            </a:extLst>
          </p:cNvPr>
          <p:cNvSpPr>
            <a:spLocks noGrp="1"/>
          </p:cNvSpPr>
          <p:nvPr/>
        </p:nvSpPr>
        <p:spPr>
          <a:xfrm>
            <a:off x="6858000" y="2700078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Non Refund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AD919D-D4DB-4D82-B890-1FC79DCD7C79}"/>
              </a:ext>
            </a:extLst>
          </p:cNvPr>
          <p:cNvSpPr>
            <a:spLocks noGrp="1"/>
          </p:cNvSpPr>
          <p:nvPr/>
        </p:nvSpPr>
        <p:spPr>
          <a:xfrm>
            <a:off x="8471250" y="2733157"/>
            <a:ext cx="2000250" cy="190500"/>
          </a:xfrm>
          <a:prstGeom prst="rect">
            <a:avLst/>
          </a:prstGeom>
          <a:solidFill>
            <a:srgbClr val="E9E2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06A840-B3F0-45E9-AD34-2EF77466761F}"/>
              </a:ext>
            </a:extLst>
          </p:cNvPr>
          <p:cNvSpPr>
            <a:spLocks noGrp="1"/>
          </p:cNvSpPr>
          <p:nvPr/>
        </p:nvSpPr>
        <p:spPr>
          <a:xfrm>
            <a:off x="8477250" y="2747703"/>
            <a:ext cx="1988249" cy="19050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950FF1-4ACA-4CDF-AE75-F9ADC7CC2FEB}"/>
              </a:ext>
            </a:extLst>
          </p:cNvPr>
          <p:cNvSpPr>
            <a:spLocks noGrp="1"/>
          </p:cNvSpPr>
          <p:nvPr/>
        </p:nvSpPr>
        <p:spPr>
          <a:xfrm>
            <a:off x="10572750" y="2709603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99,4%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9F6323-DD21-4782-A86F-1CDD4EB7E29E}"/>
              </a:ext>
            </a:extLst>
          </p:cNvPr>
          <p:cNvSpPr>
            <a:spLocks noGrp="1"/>
          </p:cNvSpPr>
          <p:nvPr/>
        </p:nvSpPr>
        <p:spPr>
          <a:xfrm>
            <a:off x="6858000" y="3157278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 Deposit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0685C5-7BC9-471A-BC5C-ADAA08CAAFB1}"/>
              </a:ext>
            </a:extLst>
          </p:cNvPr>
          <p:cNvSpPr>
            <a:spLocks noGrp="1"/>
          </p:cNvSpPr>
          <p:nvPr/>
        </p:nvSpPr>
        <p:spPr>
          <a:xfrm>
            <a:off x="8477250" y="3204903"/>
            <a:ext cx="2000250" cy="190500"/>
          </a:xfrm>
          <a:prstGeom prst="rect">
            <a:avLst/>
          </a:prstGeom>
          <a:solidFill>
            <a:srgbClr val="E9E2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23E03B-50F2-448D-91BB-B222F8C11FCB}"/>
              </a:ext>
            </a:extLst>
          </p:cNvPr>
          <p:cNvSpPr>
            <a:spLocks noGrp="1"/>
          </p:cNvSpPr>
          <p:nvPr/>
        </p:nvSpPr>
        <p:spPr>
          <a:xfrm>
            <a:off x="8477250" y="3204903"/>
            <a:ext cx="572072" cy="1905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AF60D1-4C03-4A84-BDB7-21D59179F390}"/>
              </a:ext>
            </a:extLst>
          </p:cNvPr>
          <p:cNvSpPr>
            <a:spLocks noGrp="1"/>
          </p:cNvSpPr>
          <p:nvPr/>
        </p:nvSpPr>
        <p:spPr>
          <a:xfrm>
            <a:off x="10572750" y="3166803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28,6%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E6F759-5569-43B2-85D0-09BEBBE2B4B0}"/>
              </a:ext>
            </a:extLst>
          </p:cNvPr>
          <p:cNvSpPr>
            <a:spLocks noGrp="1"/>
          </p:cNvSpPr>
          <p:nvPr/>
        </p:nvSpPr>
        <p:spPr>
          <a:xfrm>
            <a:off x="6858000" y="3938328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 peticiones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9DE443-525A-45E6-A89A-48402962F17A}"/>
              </a:ext>
            </a:extLst>
          </p:cNvPr>
          <p:cNvSpPr>
            <a:spLocks noGrp="1"/>
          </p:cNvSpPr>
          <p:nvPr/>
        </p:nvSpPr>
        <p:spPr>
          <a:xfrm>
            <a:off x="8477250" y="3985953"/>
            <a:ext cx="2000250" cy="190500"/>
          </a:xfrm>
          <a:prstGeom prst="rect">
            <a:avLst/>
          </a:prstGeom>
          <a:solidFill>
            <a:srgbClr val="E9E2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215CC0-311A-4A4F-B1A7-3088E4D7DADD}"/>
              </a:ext>
            </a:extLst>
          </p:cNvPr>
          <p:cNvSpPr>
            <a:spLocks noGrp="1"/>
          </p:cNvSpPr>
          <p:nvPr/>
        </p:nvSpPr>
        <p:spPr>
          <a:xfrm>
            <a:off x="8477250" y="3985953"/>
            <a:ext cx="960120" cy="19050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AAA5F7-58A5-45CA-A099-A38C37F0AB53}"/>
              </a:ext>
            </a:extLst>
          </p:cNvPr>
          <p:cNvSpPr>
            <a:spLocks noGrp="1"/>
          </p:cNvSpPr>
          <p:nvPr/>
        </p:nvSpPr>
        <p:spPr>
          <a:xfrm>
            <a:off x="10572750" y="3947853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48,0%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464F99-FB26-4B8E-8054-661691D84087}"/>
              </a:ext>
            </a:extLst>
          </p:cNvPr>
          <p:cNvSpPr>
            <a:spLocks noGrp="1"/>
          </p:cNvSpPr>
          <p:nvPr/>
        </p:nvSpPr>
        <p:spPr>
          <a:xfrm>
            <a:off x="6858000" y="4395528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 petición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CBC4D7-3BD6-48B6-A816-0E9B9B909B6E}"/>
              </a:ext>
            </a:extLst>
          </p:cNvPr>
          <p:cNvSpPr>
            <a:spLocks noGrp="1"/>
          </p:cNvSpPr>
          <p:nvPr/>
        </p:nvSpPr>
        <p:spPr>
          <a:xfrm>
            <a:off x="8477250" y="4443153"/>
            <a:ext cx="2000250" cy="190500"/>
          </a:xfrm>
          <a:prstGeom prst="rect">
            <a:avLst/>
          </a:prstGeom>
          <a:solidFill>
            <a:srgbClr val="E9E2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832828-4CE5-4FF2-875D-0CB41D4CB336}"/>
              </a:ext>
            </a:extLst>
          </p:cNvPr>
          <p:cNvSpPr>
            <a:spLocks noGrp="1"/>
          </p:cNvSpPr>
          <p:nvPr/>
        </p:nvSpPr>
        <p:spPr>
          <a:xfrm>
            <a:off x="8477250" y="4443153"/>
            <a:ext cx="442055" cy="1905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E7928A-0B3F-4BC4-9A5E-E0B82C953313}"/>
              </a:ext>
            </a:extLst>
          </p:cNvPr>
          <p:cNvSpPr>
            <a:spLocks noGrp="1"/>
          </p:cNvSpPr>
          <p:nvPr/>
        </p:nvSpPr>
        <p:spPr>
          <a:xfrm>
            <a:off x="10572750" y="4405053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22,1%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4E9DDD-BDC0-4AF0-BC0A-D6E1729A7580}"/>
              </a:ext>
            </a:extLst>
          </p:cNvPr>
          <p:cNvSpPr>
            <a:spLocks noGrp="1"/>
          </p:cNvSpPr>
          <p:nvPr/>
        </p:nvSpPr>
        <p:spPr>
          <a:xfrm>
            <a:off x="6772275" y="4981575"/>
            <a:ext cx="409575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400" dirty="0">
                <a:solidFill>
                  <a:srgbClr val="17212B"/>
                </a:solidFill>
                <a:latin typeface="Aptos"/>
              </a:rPr>
              <a:t>El valor de la </a:t>
            </a:r>
            <a:r>
              <a:rPr sz="1400" dirty="0" err="1">
                <a:solidFill>
                  <a:srgbClr val="17212B"/>
                </a:solidFill>
                <a:latin typeface="Aptos"/>
              </a:rPr>
              <a:t>solución</a:t>
            </a:r>
            <a:r>
              <a:rPr sz="1400" dirty="0">
                <a:solidFill>
                  <a:srgbClr val="17212B"/>
                </a:solidFill>
                <a:latin typeface="Aptos"/>
              </a:rPr>
              <a:t> es </a:t>
            </a:r>
            <a:r>
              <a:rPr sz="1400" dirty="0" err="1">
                <a:solidFill>
                  <a:srgbClr val="17212B"/>
                </a:solidFill>
                <a:latin typeface="Aptos"/>
              </a:rPr>
              <a:t>combinar</a:t>
            </a:r>
            <a:r>
              <a:rPr sz="140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17212B"/>
                </a:solidFill>
                <a:latin typeface="Aptos"/>
              </a:rPr>
              <a:t>señales</a:t>
            </a:r>
            <a:r>
              <a:rPr sz="1400" dirty="0">
                <a:solidFill>
                  <a:srgbClr val="17212B"/>
                </a:solidFill>
                <a:latin typeface="Aptos"/>
              </a:rPr>
              <a:t> simples y </a:t>
            </a:r>
            <a:r>
              <a:rPr sz="1400" dirty="0" err="1">
                <a:solidFill>
                  <a:srgbClr val="17212B"/>
                </a:solidFill>
                <a:latin typeface="Aptos"/>
              </a:rPr>
              <a:t>convertirlas</a:t>
            </a:r>
            <a:r>
              <a:rPr sz="140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17212B"/>
                </a:solidFill>
                <a:latin typeface="Aptos"/>
              </a:rPr>
              <a:t>en</a:t>
            </a:r>
            <a:r>
              <a:rPr sz="140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17212B"/>
                </a:solidFill>
                <a:latin typeface="Aptos"/>
              </a:rPr>
              <a:t>una</a:t>
            </a:r>
            <a:r>
              <a:rPr sz="140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17212B"/>
                </a:solidFill>
                <a:latin typeface="Aptos"/>
              </a:rPr>
              <a:t>prioridad</a:t>
            </a:r>
            <a:r>
              <a:rPr sz="1400" dirty="0">
                <a:solidFill>
                  <a:srgbClr val="17212B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17212B"/>
                </a:solidFill>
                <a:latin typeface="Aptos"/>
              </a:rPr>
              <a:t>clara</a:t>
            </a:r>
            <a:r>
              <a:rPr sz="1400" dirty="0">
                <a:solidFill>
                  <a:srgbClr val="17212B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7818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1A9D20E-85A6-41BE-81BC-680B7CE8D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DB335EA2-0AF7-45EE-AECF-A173C45885BC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EE241C7F-01D0-4055-8031-B8735DFC87CE}"/>
              </a:ext>
            </a:extLst>
          </p:cNvPr>
          <p:cNvSpPr>
            <a:spLocks noGrp="1"/>
          </p:cNvSpPr>
          <p:nvPr/>
        </p:nvSpPr>
        <p:spPr>
          <a:xfrm>
            <a:off x="1123950" y="409575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2FD91866-D1A8-479E-955E-844DAD566F33}"/>
              </a:ext>
            </a:extLst>
          </p:cNvPr>
          <p:cNvSpPr>
            <a:spLocks noGrp="1"/>
          </p:cNvSpPr>
          <p:nvPr/>
        </p:nvSpPr>
        <p:spPr>
          <a:xfrm>
            <a:off x="571500" y="561975"/>
            <a:ext cx="742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SOLUCIÓN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69A7DF-50CF-4F13-995F-F85B57E90A1F}"/>
              </a:ext>
            </a:extLst>
          </p:cNvPr>
          <p:cNvSpPr>
            <a:spLocks noGrp="1"/>
          </p:cNvSpPr>
          <p:nvPr/>
        </p:nvSpPr>
        <p:spPr>
          <a:xfrm>
            <a:off x="604751" y="1195388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La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solución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convierte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reserva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en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prioridad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operativa</a:t>
            </a:r>
            <a:endParaRPr sz="2600" b="1" dirty="0">
              <a:solidFill>
                <a:srgbClr val="1721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D4BF7D-CC6E-4AB4-A471-D67E7912E8CB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47164-647D-4C6C-9EC9-369BDA57356C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Fuente: Hotel Booking Demand (Kaggle) + demo operativa propia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B5CF4-8775-446D-9C24-17285B1168A0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04 /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B6366D-B940-4566-A5C4-A9B0237C059D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238375" cy="1476375"/>
          </a:xfrm>
          <a:prstGeom prst="rect">
            <a:avLst/>
          </a:prstGeom>
          <a:solidFill>
            <a:srgbClr val="DAE8E1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11B3B3-2492-4B8D-96DE-0E4347DBD1C5}"/>
              </a:ext>
            </a:extLst>
          </p:cNvPr>
          <p:cNvSpPr>
            <a:spLocks noGrp="1"/>
          </p:cNvSpPr>
          <p:nvPr/>
        </p:nvSpPr>
        <p:spPr>
          <a:xfrm>
            <a:off x="857250" y="2800350"/>
            <a:ext cx="200648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Datos de reserva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5800F3-1C44-4718-9151-41B822FB29C8}"/>
              </a:ext>
            </a:extLst>
          </p:cNvPr>
          <p:cNvSpPr>
            <a:spLocks noGrp="1"/>
          </p:cNvSpPr>
          <p:nvPr/>
        </p:nvSpPr>
        <p:spPr>
          <a:xfrm>
            <a:off x="857250" y="3181350"/>
            <a:ext cx="18573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hotel, canal, antelación, depósito, historial, peticiones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126D1D-6466-4721-90F7-F1ABC64833A1}"/>
              </a:ext>
            </a:extLst>
          </p:cNvPr>
          <p:cNvSpPr>
            <a:spLocks noGrp="1"/>
          </p:cNvSpPr>
          <p:nvPr/>
        </p:nvSpPr>
        <p:spPr>
          <a:xfrm>
            <a:off x="3028950" y="3295650"/>
            <a:ext cx="476250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7DDCB9-E08C-43F3-9E17-057536ABD590}"/>
              </a:ext>
            </a:extLst>
          </p:cNvPr>
          <p:cNvSpPr>
            <a:spLocks noGrp="1"/>
          </p:cNvSpPr>
          <p:nvPr/>
        </p:nvSpPr>
        <p:spPr>
          <a:xfrm>
            <a:off x="3438525" y="3219450"/>
            <a:ext cx="114300" cy="1809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0A4E03-8498-4D01-B78B-A0322B7BD290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2238375" cy="1476375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68D4A0-7D7D-4859-8BB8-BF94412247D1}"/>
              </a:ext>
            </a:extLst>
          </p:cNvPr>
          <p:cNvSpPr>
            <a:spLocks noGrp="1"/>
          </p:cNvSpPr>
          <p:nvPr/>
        </p:nvSpPr>
        <p:spPr>
          <a:xfrm>
            <a:off x="3667125" y="2800350"/>
            <a:ext cx="1857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Motor de riesgo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75510C-BF31-4448-8B61-792CF1138DDD}"/>
              </a:ext>
            </a:extLst>
          </p:cNvPr>
          <p:cNvSpPr>
            <a:spLocks noGrp="1"/>
          </p:cNvSpPr>
          <p:nvPr/>
        </p:nvSpPr>
        <p:spPr>
          <a:xfrm>
            <a:off x="3667125" y="3181350"/>
            <a:ext cx="18573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estima riesgo de cancelación antes de la estancia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052FA6-92E1-41F0-89D0-0339B714662C}"/>
              </a:ext>
            </a:extLst>
          </p:cNvPr>
          <p:cNvSpPr>
            <a:spLocks noGrp="1"/>
          </p:cNvSpPr>
          <p:nvPr/>
        </p:nvSpPr>
        <p:spPr>
          <a:xfrm>
            <a:off x="5838825" y="3295650"/>
            <a:ext cx="476250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1F9090-1F94-4E18-9684-5AC51B021506}"/>
              </a:ext>
            </a:extLst>
          </p:cNvPr>
          <p:cNvSpPr>
            <a:spLocks noGrp="1"/>
          </p:cNvSpPr>
          <p:nvPr/>
        </p:nvSpPr>
        <p:spPr>
          <a:xfrm>
            <a:off x="6248400" y="3219450"/>
            <a:ext cx="114300" cy="1809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FAE335-86B9-48BC-A425-3CC266D84455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2238375" cy="1476375"/>
          </a:xfrm>
          <a:prstGeom prst="rect">
            <a:avLst/>
          </a:prstGeom>
          <a:solidFill>
            <a:srgbClr val="E9E2D2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B9CCA-F7B4-4C4F-8705-64EAB0310EAD}"/>
              </a:ext>
            </a:extLst>
          </p:cNvPr>
          <p:cNvSpPr>
            <a:spLocks noGrp="1"/>
          </p:cNvSpPr>
          <p:nvPr/>
        </p:nvSpPr>
        <p:spPr>
          <a:xfrm>
            <a:off x="6477000" y="2800350"/>
            <a:ext cx="1857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Nivel de riesgo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0E193D-0D74-40CB-AC5E-38F472334547}"/>
              </a:ext>
            </a:extLst>
          </p:cNvPr>
          <p:cNvSpPr>
            <a:spLocks noGrp="1"/>
          </p:cNvSpPr>
          <p:nvPr/>
        </p:nvSpPr>
        <p:spPr>
          <a:xfrm>
            <a:off x="6477000" y="3181350"/>
            <a:ext cx="18573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bajo, medio o alto para ordenar la bandeja de trabajo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CD9DA3-50CF-42B7-A83F-86F5E0163E92}"/>
              </a:ext>
            </a:extLst>
          </p:cNvPr>
          <p:cNvSpPr>
            <a:spLocks noGrp="1"/>
          </p:cNvSpPr>
          <p:nvPr/>
        </p:nvSpPr>
        <p:spPr>
          <a:xfrm>
            <a:off x="8648700" y="3295650"/>
            <a:ext cx="476250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A616BD-F936-4698-8172-8E872C44C396}"/>
              </a:ext>
            </a:extLst>
          </p:cNvPr>
          <p:cNvSpPr>
            <a:spLocks noGrp="1"/>
          </p:cNvSpPr>
          <p:nvPr/>
        </p:nvSpPr>
        <p:spPr>
          <a:xfrm>
            <a:off x="9058275" y="3219450"/>
            <a:ext cx="114300" cy="1809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89A94-7FF9-4159-AC15-A9AFB2FCE20C}"/>
              </a:ext>
            </a:extLst>
          </p:cNvPr>
          <p:cNvSpPr>
            <a:spLocks noGrp="1"/>
          </p:cNvSpPr>
          <p:nvPr/>
        </p:nvSpPr>
        <p:spPr>
          <a:xfrm>
            <a:off x="9096375" y="2571750"/>
            <a:ext cx="2238375" cy="1476375"/>
          </a:xfrm>
          <a:prstGeom prst="rect">
            <a:avLst/>
          </a:prstGeom>
          <a:solidFill>
            <a:srgbClr val="F3D2C8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400C5B-BD5C-4D87-82B9-6D01598A8206}"/>
              </a:ext>
            </a:extLst>
          </p:cNvPr>
          <p:cNvSpPr>
            <a:spLocks noGrp="1"/>
          </p:cNvSpPr>
          <p:nvPr/>
        </p:nvSpPr>
        <p:spPr>
          <a:xfrm>
            <a:off x="9286875" y="2800350"/>
            <a:ext cx="18573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Acción sugerida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B680A2-9076-4265-8F35-02F267CAAB51}"/>
              </a:ext>
            </a:extLst>
          </p:cNvPr>
          <p:cNvSpPr>
            <a:spLocks noGrp="1"/>
          </p:cNvSpPr>
          <p:nvPr/>
        </p:nvSpPr>
        <p:spPr>
          <a:xfrm>
            <a:off x="9286875" y="3181350"/>
            <a:ext cx="185737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confirmar, revisar condiciones o considerar overbooking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ADF506-FDE0-4388-8B91-E549308DA1CD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8953500" cy="7810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D08A2A-65F3-4F40-9683-8A8942F5DC2E}"/>
              </a:ext>
            </a:extLst>
          </p:cNvPr>
          <p:cNvSpPr>
            <a:spLocks noGrp="1"/>
          </p:cNvSpPr>
          <p:nvPr/>
        </p:nvSpPr>
        <p:spPr>
          <a:xfrm>
            <a:off x="1943100" y="4819650"/>
            <a:ext cx="1476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Idea clave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94A01A-C6C6-4A5D-AB4A-3CAFF6BCE966}"/>
              </a:ext>
            </a:extLst>
          </p:cNvPr>
          <p:cNvSpPr>
            <a:spLocks noGrp="1"/>
          </p:cNvSpPr>
          <p:nvPr/>
        </p:nvSpPr>
        <p:spPr>
          <a:xfrm>
            <a:off x="3524250" y="4743450"/>
            <a:ext cx="666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 sustituye al equipo</a:t>
            </a: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: ordena qué reservas revisar primero y qué acción tiene más sentido.</a:t>
            </a:r>
          </a:p>
        </p:txBody>
      </p:sp>
    </p:spTree>
    <p:extLst>
      <p:ext uri="{BB962C8B-B14F-4D97-AF65-F5344CB8AC3E}">
        <p14:creationId xmlns:p14="http://schemas.microsoft.com/office/powerpoint/2010/main" val="65385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28F9967-9B0E-42E7-98F2-D160AA8BC9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C3CF1C2B-F74B-4CE8-B38A-AA62E918C516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8A98DE50-58FC-4798-A7A2-1AF8168BC766}"/>
              </a:ext>
            </a:extLst>
          </p:cNvPr>
          <p:cNvSpPr>
            <a:spLocks noGrp="1"/>
          </p:cNvSpPr>
          <p:nvPr/>
        </p:nvSpPr>
        <p:spPr>
          <a:xfrm>
            <a:off x="1123950" y="409575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D00EFA20-B13B-424D-82E9-E2C328A242E8}"/>
              </a:ext>
            </a:extLst>
          </p:cNvPr>
          <p:cNvSpPr>
            <a:spLocks noGrp="1"/>
          </p:cNvSpPr>
          <p:nvPr/>
        </p:nvSpPr>
        <p:spPr>
          <a:xfrm>
            <a:off x="571500" y="561975"/>
            <a:ext cx="742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VALOR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290441-9B34-428B-9C00-13748C4FB611}"/>
              </a:ext>
            </a:extLst>
          </p:cNvPr>
          <p:cNvSpPr>
            <a:spLocks noGrp="1"/>
          </p:cNvSpPr>
          <p:nvPr/>
        </p:nvSpPr>
        <p:spPr>
          <a:xfrm>
            <a:off x="571500" y="1062038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El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sistema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prioriza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alertas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con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buena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cobertura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fiabilidad</a:t>
            </a:r>
            <a:endParaRPr sz="2600" b="1" dirty="0">
              <a:solidFill>
                <a:srgbClr val="1721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A483FA-160A-41BB-A0F2-C52AE338D1C1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3943FB-6738-4335-ADA6-75A6159EC9D8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Fuente: Hotel Booking Demand (Kaggle) + demo operativa propia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B8CD7-66A4-4DD5-B923-4B38765D9813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05 /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5AB89-4EF7-473E-8EF4-9CDBCEE8E5D5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5334000" cy="36195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F98DC2-A27E-488B-A52C-37BBD62EFAC9}"/>
              </a:ext>
            </a:extLst>
          </p:cNvPr>
          <p:cNvSpPr>
            <a:spLocks noGrp="1"/>
          </p:cNvSpPr>
          <p:nvPr/>
        </p:nvSpPr>
        <p:spPr>
          <a:xfrm>
            <a:off x="1400175" y="229552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Cobertura de cancelaciones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E49785-854B-41D1-972E-6A0423FA818B}"/>
              </a:ext>
            </a:extLst>
          </p:cNvPr>
          <p:cNvSpPr>
            <a:spLocks noGrp="1"/>
          </p:cNvSpPr>
          <p:nvPr/>
        </p:nvSpPr>
        <p:spPr>
          <a:xfrm>
            <a:off x="1047232" y="2828925"/>
            <a:ext cx="104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25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 dirty="0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86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F503FE-3C08-40CF-9D2B-1D1A6FD53FC1}"/>
              </a:ext>
            </a:extLst>
          </p:cNvPr>
          <p:cNvSpPr>
            <a:spLocks noGrp="1"/>
          </p:cNvSpPr>
          <p:nvPr/>
        </p:nvSpPr>
        <p:spPr>
          <a:xfrm>
            <a:off x="2207376" y="3000375"/>
            <a:ext cx="247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 </a:t>
            </a:r>
            <a:r>
              <a:rPr sz="165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cada</a:t>
            </a:r>
            <a:r>
              <a:rPr sz="165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100 </a:t>
            </a:r>
            <a:r>
              <a:rPr sz="165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cancelaciones</a:t>
            </a:r>
            <a:r>
              <a:rPr sz="165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reales se </a:t>
            </a:r>
            <a:r>
              <a:rPr sz="165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detectan</a:t>
            </a:r>
            <a:endParaRPr sz="1650" b="0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D1E5AD-1CF1-46BB-A2C0-5D4203737D6C}"/>
              </a:ext>
            </a:extLst>
          </p:cNvPr>
          <p:cNvSpPr>
            <a:spLocks noGrp="1"/>
          </p:cNvSpPr>
          <p:nvPr/>
        </p:nvSpPr>
        <p:spPr>
          <a:xfrm>
            <a:off x="933450" y="3752850"/>
            <a:ext cx="3905250" cy="209550"/>
          </a:xfrm>
          <a:prstGeom prst="rect">
            <a:avLst/>
          </a:prstGeom>
          <a:solidFill>
            <a:srgbClr val="E9E2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37B93-F3A8-4E09-A73B-5D1AB7E43FA2}"/>
              </a:ext>
            </a:extLst>
          </p:cNvPr>
          <p:cNvSpPr>
            <a:spLocks noGrp="1"/>
          </p:cNvSpPr>
          <p:nvPr/>
        </p:nvSpPr>
        <p:spPr>
          <a:xfrm>
            <a:off x="933450" y="3752850"/>
            <a:ext cx="3343275" cy="2095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4978E6-72B6-415B-ABCE-DF960530BE53}"/>
              </a:ext>
            </a:extLst>
          </p:cNvPr>
          <p:cNvSpPr>
            <a:spLocks noGrp="1"/>
          </p:cNvSpPr>
          <p:nvPr/>
        </p:nvSpPr>
        <p:spPr>
          <a:xfrm>
            <a:off x="933450" y="4219575"/>
            <a:ext cx="4095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latin typeface="Aptos"/>
                <a:ea typeface="Aptos"/>
                <a:cs typeface="Aptos"/>
              </a:rPr>
              <a:t>Esto </a:t>
            </a:r>
            <a:r>
              <a:rPr sz="1400" b="0" dirty="0" err="1">
                <a:latin typeface="Aptos"/>
                <a:ea typeface="Aptos"/>
                <a:cs typeface="Aptos"/>
              </a:rPr>
              <a:t>ayuda</a:t>
            </a:r>
            <a:r>
              <a:rPr sz="1400" b="0" dirty="0">
                <a:latin typeface="Aptos"/>
                <a:ea typeface="Aptos"/>
                <a:cs typeface="Aptos"/>
              </a:rPr>
              <a:t> a </a:t>
            </a:r>
            <a:r>
              <a:rPr sz="1400" b="0" dirty="0" err="1">
                <a:latin typeface="Aptos"/>
                <a:ea typeface="Aptos"/>
                <a:cs typeface="Aptos"/>
              </a:rPr>
              <a:t>que</a:t>
            </a:r>
            <a:r>
              <a:rPr sz="1400" b="0" dirty="0"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latin typeface="Aptos"/>
                <a:ea typeface="Aptos"/>
                <a:cs typeface="Aptos"/>
              </a:rPr>
              <a:t>menos</a:t>
            </a:r>
            <a:r>
              <a:rPr sz="1400" b="0" dirty="0"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latin typeface="Aptos"/>
                <a:ea typeface="Aptos"/>
                <a:cs typeface="Aptos"/>
              </a:rPr>
              <a:t>cancelaciones</a:t>
            </a:r>
            <a:r>
              <a:rPr sz="1400" b="0" dirty="0"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latin typeface="Aptos"/>
                <a:ea typeface="Aptos"/>
                <a:cs typeface="Aptos"/>
              </a:rPr>
              <a:t>pasen</a:t>
            </a:r>
            <a:r>
              <a:rPr sz="1400" b="0" dirty="0"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latin typeface="Aptos"/>
                <a:ea typeface="Aptos"/>
                <a:cs typeface="Aptos"/>
              </a:rPr>
              <a:t>desapercibidas</a:t>
            </a:r>
            <a:r>
              <a:rPr sz="1400" b="0" dirty="0"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latin typeface="Aptos"/>
                <a:ea typeface="Aptos"/>
                <a:cs typeface="Aptos"/>
              </a:rPr>
              <a:t>en</a:t>
            </a:r>
            <a:r>
              <a:rPr sz="1400" b="0" dirty="0">
                <a:latin typeface="Aptos"/>
                <a:ea typeface="Aptos"/>
                <a:cs typeface="Aptos"/>
              </a:rPr>
              <a:t> la </a:t>
            </a:r>
            <a:r>
              <a:rPr sz="1400" b="0" dirty="0" err="1">
                <a:latin typeface="Aptos"/>
                <a:ea typeface="Aptos"/>
                <a:cs typeface="Aptos"/>
              </a:rPr>
              <a:t>planificación</a:t>
            </a:r>
            <a:r>
              <a:rPr sz="1400" b="0" dirty="0"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7D0F98-2BFB-404D-BA8C-A8C31BC147F5}"/>
              </a:ext>
            </a:extLst>
          </p:cNvPr>
          <p:cNvSpPr>
            <a:spLocks noGrp="1"/>
          </p:cNvSpPr>
          <p:nvPr/>
        </p:nvSpPr>
        <p:spPr>
          <a:xfrm>
            <a:off x="6343650" y="1962150"/>
            <a:ext cx="5334000" cy="36195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6A30AD-AEAB-4730-9D3E-E0BCD238EE40}"/>
              </a:ext>
            </a:extLst>
          </p:cNvPr>
          <p:cNvSpPr>
            <a:spLocks noGrp="1"/>
          </p:cNvSpPr>
          <p:nvPr/>
        </p:nvSpPr>
        <p:spPr>
          <a:xfrm>
            <a:off x="7519727" y="229552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Calidad de las alertas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78C71-E8B0-4B1C-AC3C-15803A45819D}"/>
              </a:ext>
            </a:extLst>
          </p:cNvPr>
          <p:cNvSpPr>
            <a:spLocks noGrp="1"/>
          </p:cNvSpPr>
          <p:nvPr/>
        </p:nvSpPr>
        <p:spPr>
          <a:xfrm>
            <a:off x="6883804" y="2781300"/>
            <a:ext cx="104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250" b="1">
                <a:solidFill>
                  <a:srgbClr val="D95D39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 dirty="0">
                <a:solidFill>
                  <a:srgbClr val="D95D39"/>
                </a:solidFill>
                <a:latin typeface="Aptos Display"/>
                <a:ea typeface="Aptos Display"/>
                <a:cs typeface="Aptos Display"/>
              </a:rPr>
              <a:t>83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EEF61D-99AE-4491-99CB-B7B097177F8A}"/>
              </a:ext>
            </a:extLst>
          </p:cNvPr>
          <p:cNvSpPr>
            <a:spLocks noGrp="1"/>
          </p:cNvSpPr>
          <p:nvPr/>
        </p:nvSpPr>
        <p:spPr>
          <a:xfrm>
            <a:off x="8036676" y="2943225"/>
            <a:ext cx="263132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 </a:t>
            </a:r>
            <a:r>
              <a:rPr sz="165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cada</a:t>
            </a:r>
            <a:r>
              <a:rPr sz="165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100 </a:t>
            </a:r>
            <a:r>
              <a:rPr sz="165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alertas</a:t>
            </a:r>
            <a:r>
              <a:rPr sz="165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de </a:t>
            </a:r>
            <a:r>
              <a:rPr sz="165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cancelación</a:t>
            </a:r>
            <a:r>
              <a:rPr sz="165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son </a:t>
            </a:r>
            <a:r>
              <a:rPr sz="165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correctas</a:t>
            </a:r>
            <a:endParaRPr sz="1650" b="0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5F9213-5DF6-4009-A480-50C85AB4229F}"/>
              </a:ext>
            </a:extLst>
          </p:cNvPr>
          <p:cNvSpPr>
            <a:spLocks noGrp="1"/>
          </p:cNvSpPr>
          <p:nvPr/>
        </p:nvSpPr>
        <p:spPr>
          <a:xfrm>
            <a:off x="6762750" y="3745706"/>
            <a:ext cx="3905250" cy="209550"/>
          </a:xfrm>
          <a:prstGeom prst="rect">
            <a:avLst/>
          </a:prstGeom>
          <a:solidFill>
            <a:srgbClr val="E9E2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82276-6E35-4304-B52D-F17359754CBC}"/>
              </a:ext>
            </a:extLst>
          </p:cNvPr>
          <p:cNvSpPr>
            <a:spLocks noGrp="1"/>
          </p:cNvSpPr>
          <p:nvPr/>
        </p:nvSpPr>
        <p:spPr>
          <a:xfrm>
            <a:off x="6762750" y="3745706"/>
            <a:ext cx="3238500" cy="2095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96076C-23B2-4A9A-A05D-C85C9ACC1CC9}"/>
              </a:ext>
            </a:extLst>
          </p:cNvPr>
          <p:cNvSpPr>
            <a:spLocks noGrp="1"/>
          </p:cNvSpPr>
          <p:nvPr/>
        </p:nvSpPr>
        <p:spPr>
          <a:xfrm>
            <a:off x="6762750" y="4219575"/>
            <a:ext cx="4095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Evita </a:t>
            </a:r>
            <a:r>
              <a:rPr sz="14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saturar</a:t>
            </a: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al </a:t>
            </a:r>
            <a:r>
              <a:rPr sz="14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equipo</a:t>
            </a: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con </a:t>
            </a:r>
            <a:r>
              <a:rPr sz="14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señales</a:t>
            </a: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débiles</a:t>
            </a: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y </a:t>
            </a:r>
            <a:r>
              <a:rPr sz="14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mantiene</a:t>
            </a: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foco</a:t>
            </a: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operativo</a:t>
            </a: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F689CA-1A20-44DE-BDAB-8C4F456A3F46}"/>
              </a:ext>
            </a:extLst>
          </p:cNvPr>
          <p:cNvSpPr>
            <a:spLocks noGrp="1"/>
          </p:cNvSpPr>
          <p:nvPr/>
        </p:nvSpPr>
        <p:spPr>
          <a:xfrm>
            <a:off x="3867150" y="5143500"/>
            <a:ext cx="1657350" cy="323850"/>
          </a:xfrm>
          <a:prstGeom prst="rect">
            <a:avLst/>
          </a:prstGeom>
          <a:solidFill>
            <a:srgbClr val="DAE8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17F386-DF0D-4F06-A782-0046D06D16B5}"/>
              </a:ext>
            </a:extLst>
          </p:cNvPr>
          <p:cNvSpPr>
            <a:spLocks noGrp="1"/>
          </p:cNvSpPr>
          <p:nvPr/>
        </p:nvSpPr>
        <p:spPr>
          <a:xfrm>
            <a:off x="3867150" y="5210175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Equilibrio operativo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F7EB79-8F5B-465F-B2ED-4F6AF1F281B6}"/>
              </a:ext>
            </a:extLst>
          </p:cNvPr>
          <p:cNvSpPr>
            <a:spLocks noGrp="1"/>
          </p:cNvSpPr>
          <p:nvPr/>
        </p:nvSpPr>
        <p:spPr>
          <a:xfrm>
            <a:off x="6629400" y="5143500"/>
            <a:ext cx="1657350" cy="323850"/>
          </a:xfrm>
          <a:prstGeom prst="rect">
            <a:avLst/>
          </a:prstGeom>
          <a:solidFill>
            <a:srgbClr val="F3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297FA0-B391-45EC-B8F4-1F87D1E3DBA8}"/>
              </a:ext>
            </a:extLst>
          </p:cNvPr>
          <p:cNvSpPr>
            <a:spLocks noGrp="1"/>
          </p:cNvSpPr>
          <p:nvPr/>
        </p:nvSpPr>
        <p:spPr>
          <a:xfrm>
            <a:off x="6629400" y="5210175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Riesgo bien ordenado</a:t>
            </a:r>
          </a:p>
        </p:txBody>
      </p:sp>
    </p:spTree>
    <p:extLst>
      <p:ext uri="{BB962C8B-B14F-4D97-AF65-F5344CB8AC3E}">
        <p14:creationId xmlns:p14="http://schemas.microsoft.com/office/powerpoint/2010/main" val="198423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05F6BF7-10BC-4ADD-A014-35702CF81E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8AD38EE9-8F84-4DE6-A2E7-BC5A71C0312C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703C0D56-D6AA-4951-A01D-670A38D44DFC}"/>
              </a:ext>
            </a:extLst>
          </p:cNvPr>
          <p:cNvSpPr>
            <a:spLocks noGrp="1"/>
          </p:cNvSpPr>
          <p:nvPr/>
        </p:nvSpPr>
        <p:spPr>
          <a:xfrm>
            <a:off x="1123950" y="409575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53225B85-C803-4691-A4BF-FEFD765A9BC1}"/>
              </a:ext>
            </a:extLst>
          </p:cNvPr>
          <p:cNvSpPr>
            <a:spLocks noGrp="1"/>
          </p:cNvSpPr>
          <p:nvPr/>
        </p:nvSpPr>
        <p:spPr>
          <a:xfrm>
            <a:off x="571500" y="561975"/>
            <a:ext cx="742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USO DIARIO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D2920-6613-411E-A6A2-9A24484EEC49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El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riesgo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estimado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se traduce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en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tres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niveles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actuación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para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el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equipo</a:t>
            </a:r>
            <a:endParaRPr sz="2600" b="1" dirty="0">
              <a:solidFill>
                <a:srgbClr val="1721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80568-8D8F-4D13-80E6-03BD56DA493D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C4246-7368-461B-97D8-D0480469B6E8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Fuente: Hotel Booking Demand (Kaggle) + demo operativa propia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F7197-C122-4C00-9A64-0BD7D26D1CFD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06 /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761957-E75F-41EF-ACBF-A23AFAA8E9FB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3238500" cy="3333750"/>
          </a:xfrm>
          <a:prstGeom prst="rect">
            <a:avLst/>
          </a:prstGeom>
          <a:solidFill>
            <a:srgbClr val="DAE8E1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705D9-4439-4BF2-AB2B-F35467258F1F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27A48"/>
                </a:solidFill>
                <a:latin typeface="Aptos"/>
                <a:ea typeface="Aptos"/>
                <a:cs typeface="Aptos"/>
              </a:rPr>
              <a:t>Riesgo bajo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0B8E52-7ABA-4B49-A8FD-AB45C1B81033}"/>
              </a:ext>
            </a:extLst>
          </p:cNvPr>
          <p:cNvSpPr>
            <a:spLocks noGrp="1"/>
          </p:cNvSpPr>
          <p:nvPr/>
        </p:nvSpPr>
        <p:spPr>
          <a:xfrm>
            <a:off x="952500" y="28194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Mantener flujo normal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607F08-8550-498A-A825-43A93A47D0CF}"/>
              </a:ext>
            </a:extLst>
          </p:cNvPr>
          <p:cNvSpPr>
            <a:spLocks noGrp="1"/>
          </p:cNvSpPr>
          <p:nvPr/>
        </p:nvSpPr>
        <p:spPr>
          <a:xfrm>
            <a:off x="1085850" y="3429000"/>
            <a:ext cx="95250" cy="95250"/>
          </a:xfrm>
          <a:prstGeom prst="rect">
            <a:avLst/>
          </a:prstGeom>
          <a:solidFill>
            <a:srgbClr val="027A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C86A95-34AD-4055-BED4-785B433ADFD5}"/>
              </a:ext>
            </a:extLst>
          </p:cNvPr>
          <p:cNvSpPr>
            <a:spLocks noGrp="1"/>
          </p:cNvSpPr>
          <p:nvPr/>
        </p:nvSpPr>
        <p:spPr>
          <a:xfrm>
            <a:off x="1295400" y="3362325"/>
            <a:ext cx="223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aplicar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restricciones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8B8738-DE90-4151-A728-7872F80C8886}"/>
              </a:ext>
            </a:extLst>
          </p:cNvPr>
          <p:cNvSpPr>
            <a:spLocks noGrp="1"/>
          </p:cNvSpPr>
          <p:nvPr/>
        </p:nvSpPr>
        <p:spPr>
          <a:xfrm>
            <a:off x="1085850" y="3943350"/>
            <a:ext cx="95250" cy="95250"/>
          </a:xfrm>
          <a:prstGeom prst="rect">
            <a:avLst/>
          </a:prstGeom>
          <a:solidFill>
            <a:srgbClr val="027A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91C3C-8678-4C1C-9C92-76CDD79F2689}"/>
              </a:ext>
            </a:extLst>
          </p:cNvPr>
          <p:cNvSpPr>
            <a:spLocks noGrp="1"/>
          </p:cNvSpPr>
          <p:nvPr/>
        </p:nvSpPr>
        <p:spPr>
          <a:xfrm>
            <a:off x="1295400" y="3876675"/>
            <a:ext cx="223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Priorizar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seguimiento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en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otras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reservas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275278-E987-45B2-9723-AB260FD92FCF}"/>
              </a:ext>
            </a:extLst>
          </p:cNvPr>
          <p:cNvSpPr>
            <a:spLocks noGrp="1"/>
          </p:cNvSpPr>
          <p:nvPr/>
        </p:nvSpPr>
        <p:spPr>
          <a:xfrm>
            <a:off x="1095375" y="4610100"/>
            <a:ext cx="95250" cy="95250"/>
          </a:xfrm>
          <a:prstGeom prst="rect">
            <a:avLst/>
          </a:prstGeom>
          <a:solidFill>
            <a:srgbClr val="027A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B5895E-5AA8-4522-A3CD-A72829F58515}"/>
              </a:ext>
            </a:extLst>
          </p:cNvPr>
          <p:cNvSpPr>
            <a:spLocks noGrp="1"/>
          </p:cNvSpPr>
          <p:nvPr/>
        </p:nvSpPr>
        <p:spPr>
          <a:xfrm>
            <a:off x="1295400" y="4495280"/>
            <a:ext cx="223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lang="en-US"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Mantener</a:t>
            </a:r>
            <a:r>
              <a:rPr lang="en-US"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un </a:t>
            </a:r>
            <a:r>
              <a:rPr lang="en-US"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seguimiento</a:t>
            </a:r>
            <a:r>
              <a:rPr lang="en-US"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del </a:t>
            </a:r>
            <a:r>
              <a:rPr lang="en-US"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mismo</a:t>
            </a:r>
            <a:endParaRPr sz="1400" b="0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C99546-95A8-465D-B478-D9D83AF76D2F}"/>
              </a:ext>
            </a:extLst>
          </p:cNvPr>
          <p:cNvSpPr>
            <a:spLocks noGrp="1"/>
          </p:cNvSpPr>
          <p:nvPr/>
        </p:nvSpPr>
        <p:spPr>
          <a:xfrm>
            <a:off x="4448175" y="2038350"/>
            <a:ext cx="3238500" cy="3333750"/>
          </a:xfrm>
          <a:prstGeom prst="rect">
            <a:avLst/>
          </a:prstGeom>
          <a:solidFill>
            <a:srgbClr val="E9E2D2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9F25C8-C38B-4D5A-8422-D2A38EA7A1F6}"/>
              </a:ext>
            </a:extLst>
          </p:cNvPr>
          <p:cNvSpPr>
            <a:spLocks noGrp="1"/>
          </p:cNvSpPr>
          <p:nvPr/>
        </p:nvSpPr>
        <p:spPr>
          <a:xfrm>
            <a:off x="4714875" y="232410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C486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4862C"/>
                </a:solidFill>
                <a:latin typeface="Aptos"/>
                <a:ea typeface="Aptos"/>
                <a:cs typeface="Aptos"/>
              </a:rPr>
              <a:t>Riesgo medio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2E0762-875D-451D-BF86-4518DA48DBFE}"/>
              </a:ext>
            </a:extLst>
          </p:cNvPr>
          <p:cNvSpPr>
            <a:spLocks noGrp="1"/>
          </p:cNvSpPr>
          <p:nvPr/>
        </p:nvSpPr>
        <p:spPr>
          <a:xfrm>
            <a:off x="4714875" y="28194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Monitorizar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79D698-5BD4-41B8-8E41-EEAC50ADF869}"/>
              </a:ext>
            </a:extLst>
          </p:cNvPr>
          <p:cNvSpPr>
            <a:spLocks noGrp="1"/>
          </p:cNvSpPr>
          <p:nvPr/>
        </p:nvSpPr>
        <p:spPr>
          <a:xfrm>
            <a:off x="4848225" y="3429000"/>
            <a:ext cx="95250" cy="95250"/>
          </a:xfrm>
          <a:prstGeom prst="rect">
            <a:avLst/>
          </a:prstGeom>
          <a:solidFill>
            <a:srgbClr val="C486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E1A328-DD56-4392-90D2-FE6757B96E05}"/>
              </a:ext>
            </a:extLst>
          </p:cNvPr>
          <p:cNvSpPr>
            <a:spLocks noGrp="1"/>
          </p:cNvSpPr>
          <p:nvPr/>
        </p:nvSpPr>
        <p:spPr>
          <a:xfrm>
            <a:off x="5057775" y="3362325"/>
            <a:ext cx="223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Enviar recordatorio.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24E3F2-EEE9-45E7-AE32-99578AE28142}"/>
              </a:ext>
            </a:extLst>
          </p:cNvPr>
          <p:cNvSpPr>
            <a:spLocks noGrp="1"/>
          </p:cNvSpPr>
          <p:nvPr/>
        </p:nvSpPr>
        <p:spPr>
          <a:xfrm>
            <a:off x="4848225" y="3943350"/>
            <a:ext cx="95250" cy="95250"/>
          </a:xfrm>
          <a:prstGeom prst="rect">
            <a:avLst/>
          </a:prstGeom>
          <a:solidFill>
            <a:srgbClr val="C486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91F8C5-D6D9-4470-A4D0-92E8A565AF04}"/>
              </a:ext>
            </a:extLst>
          </p:cNvPr>
          <p:cNvSpPr>
            <a:spLocks noGrp="1"/>
          </p:cNvSpPr>
          <p:nvPr/>
        </p:nvSpPr>
        <p:spPr>
          <a:xfrm>
            <a:off x="5057775" y="3876675"/>
            <a:ext cx="223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Confirmar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intención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de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viaje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30B1F8-0F93-45D7-ADAC-8EADF30450CB}"/>
              </a:ext>
            </a:extLst>
          </p:cNvPr>
          <p:cNvSpPr>
            <a:spLocks noGrp="1"/>
          </p:cNvSpPr>
          <p:nvPr/>
        </p:nvSpPr>
        <p:spPr>
          <a:xfrm>
            <a:off x="4848225" y="4457700"/>
            <a:ext cx="95250" cy="95250"/>
          </a:xfrm>
          <a:prstGeom prst="rect">
            <a:avLst/>
          </a:prstGeom>
          <a:solidFill>
            <a:srgbClr val="C486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402D37-F0E6-497A-8023-E8F1D535A163}"/>
              </a:ext>
            </a:extLst>
          </p:cNvPr>
          <p:cNvSpPr>
            <a:spLocks noGrp="1"/>
          </p:cNvSpPr>
          <p:nvPr/>
        </p:nvSpPr>
        <p:spPr>
          <a:xfrm>
            <a:off x="5057775" y="4391025"/>
            <a:ext cx="223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Revisar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señales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adicionales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antes de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llegada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99459E-4F5C-4B1B-9009-FC129200AE0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3238500" cy="3333750"/>
          </a:xfrm>
          <a:prstGeom prst="rect">
            <a:avLst/>
          </a:prstGeom>
          <a:solidFill>
            <a:srgbClr val="F3D2C8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4CE99D-978C-45DB-8C51-76B3CD68BAC4}"/>
              </a:ext>
            </a:extLst>
          </p:cNvPr>
          <p:cNvSpPr>
            <a:spLocks noGrp="1"/>
          </p:cNvSpPr>
          <p:nvPr/>
        </p:nvSpPr>
        <p:spPr>
          <a:xfrm>
            <a:off x="8477250" y="232410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Riesgo alto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00253A-B560-4237-88BA-25176CD56E63}"/>
              </a:ext>
            </a:extLst>
          </p:cNvPr>
          <p:cNvSpPr>
            <a:spLocks noGrp="1"/>
          </p:cNvSpPr>
          <p:nvPr/>
        </p:nvSpPr>
        <p:spPr>
          <a:xfrm>
            <a:off x="8477250" y="28194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Actuar primero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5B145C-7306-4B75-B983-9FD656D626A6}"/>
              </a:ext>
            </a:extLst>
          </p:cNvPr>
          <p:cNvSpPr>
            <a:spLocks noGrp="1"/>
          </p:cNvSpPr>
          <p:nvPr/>
        </p:nvSpPr>
        <p:spPr>
          <a:xfrm>
            <a:off x="8610600" y="3429000"/>
            <a:ext cx="95250" cy="952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06E814-82AC-4EAE-8B42-084C80945E5B}"/>
              </a:ext>
            </a:extLst>
          </p:cNvPr>
          <p:cNvSpPr>
            <a:spLocks noGrp="1"/>
          </p:cNvSpPr>
          <p:nvPr/>
        </p:nvSpPr>
        <p:spPr>
          <a:xfrm>
            <a:off x="8820150" y="3362325"/>
            <a:ext cx="223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Revisar depósito o prepago.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7D6C1B-4D7A-4B36-9549-07452F6715BE}"/>
              </a:ext>
            </a:extLst>
          </p:cNvPr>
          <p:cNvSpPr>
            <a:spLocks noGrp="1"/>
          </p:cNvSpPr>
          <p:nvPr/>
        </p:nvSpPr>
        <p:spPr>
          <a:xfrm>
            <a:off x="8610600" y="3943350"/>
            <a:ext cx="95250" cy="952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18CDFD-4202-4F62-9CA3-56BE6CA7CEB6}"/>
              </a:ext>
            </a:extLst>
          </p:cNvPr>
          <p:cNvSpPr>
            <a:spLocks noGrp="1"/>
          </p:cNvSpPr>
          <p:nvPr/>
        </p:nvSpPr>
        <p:spPr>
          <a:xfrm>
            <a:off x="8820150" y="3876675"/>
            <a:ext cx="223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Marcar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seguimiento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comercial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A1CBC4-1F03-438F-BF97-40EFA77A38BE}"/>
              </a:ext>
            </a:extLst>
          </p:cNvPr>
          <p:cNvSpPr>
            <a:spLocks noGrp="1"/>
          </p:cNvSpPr>
          <p:nvPr/>
        </p:nvSpPr>
        <p:spPr>
          <a:xfrm>
            <a:off x="8610600" y="4457700"/>
            <a:ext cx="95250" cy="952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957626-6DD8-49E0-B05B-8071BE43BC93}"/>
              </a:ext>
            </a:extLst>
          </p:cNvPr>
          <p:cNvSpPr>
            <a:spLocks noGrp="1"/>
          </p:cNvSpPr>
          <p:nvPr/>
        </p:nvSpPr>
        <p:spPr>
          <a:xfrm>
            <a:off x="8820150" y="4391025"/>
            <a:ext cx="2238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Considerar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overbooking </a:t>
            </a:r>
            <a:r>
              <a:rPr sz="14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controlado</a:t>
            </a:r>
            <a:r>
              <a:rPr sz="14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0B115C-828D-4F4D-BE3D-ED224E0046C2}"/>
              </a:ext>
            </a:extLst>
          </p:cNvPr>
          <p:cNvSpPr>
            <a:spLocks noGrp="1"/>
          </p:cNvSpPr>
          <p:nvPr/>
        </p:nvSpPr>
        <p:spPr>
          <a:xfrm>
            <a:off x="2095500" y="5791200"/>
            <a:ext cx="800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Uso </a:t>
            </a:r>
            <a:r>
              <a:rPr sz="1400" b="1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recomendado</a:t>
            </a:r>
            <a:r>
              <a:rPr sz="1400" b="1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: </a:t>
            </a:r>
            <a:r>
              <a:rPr sz="1400" b="1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priorizar</a:t>
            </a:r>
            <a:r>
              <a:rPr sz="1400" b="1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revisión</a:t>
            </a:r>
            <a:r>
              <a:rPr sz="1400" b="1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humana, no </a:t>
            </a:r>
            <a:r>
              <a:rPr sz="1400" b="1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automatizar</a:t>
            </a:r>
            <a:r>
              <a:rPr sz="1400" b="1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penalizaciones</a:t>
            </a:r>
            <a:r>
              <a:rPr sz="1400" b="1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al </a:t>
            </a:r>
            <a:r>
              <a:rPr sz="1400" b="1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cliente</a:t>
            </a:r>
            <a:r>
              <a:rPr sz="1400" b="1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811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B56BEE1-2950-4AB1-A5FF-714D0149FE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C400B1B7-37B9-483A-AB80-A8D29DA71B41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D68A3010-1B0D-4F64-BF1E-0F50E3E0B5E9}"/>
              </a:ext>
            </a:extLst>
          </p:cNvPr>
          <p:cNvSpPr>
            <a:spLocks noGrp="1"/>
          </p:cNvSpPr>
          <p:nvPr/>
        </p:nvSpPr>
        <p:spPr>
          <a:xfrm>
            <a:off x="1123950" y="409575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D240C50C-0AC2-4B1A-A538-BC1A47A77830}"/>
              </a:ext>
            </a:extLst>
          </p:cNvPr>
          <p:cNvSpPr>
            <a:spLocks noGrp="1"/>
          </p:cNvSpPr>
          <p:nvPr/>
        </p:nvSpPr>
        <p:spPr>
          <a:xfrm>
            <a:off x="571500" y="561975"/>
            <a:ext cx="742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IMPLEMENTACIÓN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EAE190-08FF-4EE7-8D10-ED0CA3A862E3}"/>
              </a:ext>
            </a:extLst>
          </p:cNvPr>
          <p:cNvSpPr>
            <a:spLocks noGrp="1"/>
          </p:cNvSpPr>
          <p:nvPr/>
        </p:nvSpPr>
        <p:spPr>
          <a:xfrm>
            <a:off x="571500" y="1228725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Puede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integrarse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como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dashboard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dentro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del PMS </a:t>
            </a:r>
            <a:r>
              <a:rPr lang="en-US"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(Project Management System) 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sin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cambiar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el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proceso</a:t>
            </a:r>
            <a:r>
              <a:rPr sz="26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reservas</a:t>
            </a:r>
            <a:endParaRPr sz="2600" b="1" dirty="0">
              <a:solidFill>
                <a:srgbClr val="1721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7D7DE-FCE4-4335-A291-4EFCAA0A1BD8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B38A9F-37CF-4CEA-8348-38D5B2BED088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Fuente: Hotel Booking Demand (Kaggle) + demo operativa propia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96B0F0-988F-4DCD-BDCA-523BDB557079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90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7</a:t>
            </a:r>
            <a:r>
              <a:rPr sz="9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/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62376-EF08-4D1B-9497-D8CC1B67C5B4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2095500" cy="1123950"/>
          </a:xfrm>
          <a:prstGeom prst="rect">
            <a:avLst/>
          </a:prstGeom>
          <a:solidFill>
            <a:srgbClr val="DAE8E1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1B930B-C997-475E-B5FF-CD93ABEA53A8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PMS / </a:t>
            </a:r>
            <a:r>
              <a:rPr sz="1600" b="1" dirty="0" err="1">
                <a:solidFill>
                  <a:srgbClr val="0E7C7B"/>
                </a:solidFill>
                <a:latin typeface="Aptos"/>
                <a:ea typeface="Aptos"/>
                <a:cs typeface="Aptos"/>
              </a:rPr>
              <a:t>reservas</a:t>
            </a:r>
            <a:endParaRPr sz="1600" b="1" dirty="0">
              <a:solidFill>
                <a:srgbClr val="0E7C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EF87A3-1EE2-475E-8A57-AA0138F94DCB}"/>
              </a:ext>
            </a:extLst>
          </p:cNvPr>
          <p:cNvSpPr>
            <a:spLocks noGrp="1"/>
          </p:cNvSpPr>
          <p:nvPr/>
        </p:nvSpPr>
        <p:spPr>
          <a:xfrm>
            <a:off x="971550" y="30670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entrada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diaria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nuevas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reservas</a:t>
            </a:r>
            <a:endParaRPr sz="1200" b="0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5DFA70-16C3-4AC0-85A4-8EE110086AC5}"/>
              </a:ext>
            </a:extLst>
          </p:cNvPr>
          <p:cNvSpPr>
            <a:spLocks noGrp="1"/>
          </p:cNvSpPr>
          <p:nvPr/>
        </p:nvSpPr>
        <p:spPr>
          <a:xfrm>
            <a:off x="3000375" y="3000375"/>
            <a:ext cx="619125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0E4E24-A89A-4FAE-BCF2-8B173E1ABE42}"/>
              </a:ext>
            </a:extLst>
          </p:cNvPr>
          <p:cNvSpPr>
            <a:spLocks noGrp="1"/>
          </p:cNvSpPr>
          <p:nvPr/>
        </p:nvSpPr>
        <p:spPr>
          <a:xfrm>
            <a:off x="3533775" y="2924175"/>
            <a:ext cx="123825" cy="1809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8E1252-96C6-495B-9045-80E0B75CB16E}"/>
              </a:ext>
            </a:extLst>
          </p:cNvPr>
          <p:cNvSpPr>
            <a:spLocks noGrp="1"/>
          </p:cNvSpPr>
          <p:nvPr/>
        </p:nvSpPr>
        <p:spPr>
          <a:xfrm>
            <a:off x="3543300" y="2457450"/>
            <a:ext cx="2095500" cy="11239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4B4181-05E0-49B0-819C-540F10D53A47}"/>
              </a:ext>
            </a:extLst>
          </p:cNvPr>
          <p:cNvSpPr>
            <a:spLocks noGrp="1"/>
          </p:cNvSpPr>
          <p:nvPr/>
        </p:nvSpPr>
        <p:spPr>
          <a:xfrm>
            <a:off x="3714750" y="27051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Cálculo de riesgo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588774-98B1-47E2-913B-97F72FF3608B}"/>
              </a:ext>
            </a:extLst>
          </p:cNvPr>
          <p:cNvSpPr>
            <a:spLocks noGrp="1"/>
          </p:cNvSpPr>
          <p:nvPr/>
        </p:nvSpPr>
        <p:spPr>
          <a:xfrm>
            <a:off x="3733800" y="30670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riesgo de cancelación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F46009-0423-417F-87A8-6F5150EDFBB1}"/>
              </a:ext>
            </a:extLst>
          </p:cNvPr>
          <p:cNvSpPr>
            <a:spLocks noGrp="1"/>
          </p:cNvSpPr>
          <p:nvPr/>
        </p:nvSpPr>
        <p:spPr>
          <a:xfrm>
            <a:off x="5762625" y="3000375"/>
            <a:ext cx="619125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6C3BCE-64CE-4B5E-BFA3-3B9E229BFBCB}"/>
              </a:ext>
            </a:extLst>
          </p:cNvPr>
          <p:cNvSpPr>
            <a:spLocks noGrp="1"/>
          </p:cNvSpPr>
          <p:nvPr/>
        </p:nvSpPr>
        <p:spPr>
          <a:xfrm>
            <a:off x="6296025" y="2924175"/>
            <a:ext cx="123825" cy="1809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B37FAC-1F1A-488F-A6D1-20555F56F3C9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2095500" cy="1123950"/>
          </a:xfrm>
          <a:prstGeom prst="rect">
            <a:avLst/>
          </a:prstGeom>
          <a:solidFill>
            <a:srgbClr val="E9E2D2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BDF108-151E-4267-B58A-CCD95E4AE902}"/>
              </a:ext>
            </a:extLst>
          </p:cNvPr>
          <p:cNvSpPr>
            <a:spLocks noGrp="1"/>
          </p:cNvSpPr>
          <p:nvPr/>
        </p:nvSpPr>
        <p:spPr>
          <a:xfrm>
            <a:off x="6477000" y="27051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Dashboard </a:t>
            </a:r>
            <a:r>
              <a:rPr sz="1600" b="1" dirty="0" err="1">
                <a:solidFill>
                  <a:srgbClr val="0E7C7B"/>
                </a:solidFill>
                <a:latin typeface="Aptos"/>
                <a:ea typeface="Aptos"/>
                <a:cs typeface="Aptos"/>
              </a:rPr>
              <a:t>en</a:t>
            </a:r>
            <a:r>
              <a:rPr sz="1600"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 PMS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9E85FA-5851-4D7F-BFCE-1D2C97CEE4B8}"/>
              </a:ext>
            </a:extLst>
          </p:cNvPr>
          <p:cNvSpPr>
            <a:spLocks noGrp="1"/>
          </p:cNvSpPr>
          <p:nvPr/>
        </p:nvSpPr>
        <p:spPr>
          <a:xfrm>
            <a:off x="6496050" y="30670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lista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priorizada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por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riesgo</a:t>
            </a:r>
            <a:endParaRPr sz="1200" b="0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F4FFE5-0929-4119-9319-57151C942C9C}"/>
              </a:ext>
            </a:extLst>
          </p:cNvPr>
          <p:cNvSpPr>
            <a:spLocks noGrp="1"/>
          </p:cNvSpPr>
          <p:nvPr/>
        </p:nvSpPr>
        <p:spPr>
          <a:xfrm>
            <a:off x="8524875" y="3000375"/>
            <a:ext cx="619125" cy="285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E5DE0D-6F7E-407B-8C64-792F6156578B}"/>
              </a:ext>
            </a:extLst>
          </p:cNvPr>
          <p:cNvSpPr>
            <a:spLocks noGrp="1"/>
          </p:cNvSpPr>
          <p:nvPr/>
        </p:nvSpPr>
        <p:spPr>
          <a:xfrm>
            <a:off x="9058275" y="2924175"/>
            <a:ext cx="123825" cy="180975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93F0F0-1E83-4D1D-95B8-C5FEFF9A062E}"/>
              </a:ext>
            </a:extLst>
          </p:cNvPr>
          <p:cNvSpPr>
            <a:spLocks noGrp="1"/>
          </p:cNvSpPr>
          <p:nvPr/>
        </p:nvSpPr>
        <p:spPr>
          <a:xfrm>
            <a:off x="9067800" y="2457450"/>
            <a:ext cx="2095500" cy="1123950"/>
          </a:xfrm>
          <a:prstGeom prst="rect">
            <a:avLst/>
          </a:prstGeom>
          <a:solidFill>
            <a:srgbClr val="F3D2C8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3A5C2F-7464-4EBB-AC53-6A773415EE44}"/>
              </a:ext>
            </a:extLst>
          </p:cNvPr>
          <p:cNvSpPr>
            <a:spLocks noGrp="1"/>
          </p:cNvSpPr>
          <p:nvPr/>
        </p:nvSpPr>
        <p:spPr>
          <a:xfrm>
            <a:off x="9239250" y="27051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Equipo operativo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2CD23A-C367-4D6F-A631-74F6AA102B6D}"/>
              </a:ext>
            </a:extLst>
          </p:cNvPr>
          <p:cNvSpPr>
            <a:spLocks noGrp="1"/>
          </p:cNvSpPr>
          <p:nvPr/>
        </p:nvSpPr>
        <p:spPr>
          <a:xfrm>
            <a:off x="9258300" y="30670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seguimiento y decisiones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0AD9EB-F80C-4FE1-8DA8-C3FA2AA470CE}"/>
              </a:ext>
            </a:extLst>
          </p:cNvPr>
          <p:cNvSpPr>
            <a:spLocks noGrp="1"/>
          </p:cNvSpPr>
          <p:nvPr/>
        </p:nvSpPr>
        <p:spPr>
          <a:xfrm>
            <a:off x="857250" y="4238625"/>
            <a:ext cx="2952750" cy="1076324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ABA98A-8692-4385-8CA9-6CEAACCC857B}"/>
              </a:ext>
            </a:extLst>
          </p:cNvPr>
          <p:cNvSpPr>
            <a:spLocks noGrp="1"/>
          </p:cNvSpPr>
          <p:nvPr/>
        </p:nvSpPr>
        <p:spPr>
          <a:xfrm>
            <a:off x="1104900" y="439102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Coste </a:t>
            </a:r>
            <a:r>
              <a:rPr sz="1600" b="1" dirty="0" err="1">
                <a:solidFill>
                  <a:srgbClr val="0E7C7B"/>
                </a:solidFill>
                <a:latin typeface="Aptos"/>
                <a:ea typeface="Aptos"/>
                <a:cs typeface="Aptos"/>
              </a:rPr>
              <a:t>controlado</a:t>
            </a:r>
            <a:endParaRPr sz="1600" b="1" dirty="0">
              <a:solidFill>
                <a:srgbClr val="0E7C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08944E-91F2-49CC-A9B9-26B0734B0398}"/>
              </a:ext>
            </a:extLst>
          </p:cNvPr>
          <p:cNvSpPr>
            <a:spLocks noGrp="1"/>
          </p:cNvSpPr>
          <p:nvPr/>
        </p:nvSpPr>
        <p:spPr>
          <a:xfrm>
            <a:off x="1104900" y="47053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Herramienta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ligera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+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revisión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periódica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del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funcionamiento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F8F53D-5B70-420A-874F-1DDE99E0F0F6}"/>
              </a:ext>
            </a:extLst>
          </p:cNvPr>
          <p:cNvSpPr>
            <a:spLocks noGrp="1"/>
          </p:cNvSpPr>
          <p:nvPr/>
        </p:nvSpPr>
        <p:spPr>
          <a:xfrm>
            <a:off x="4619625" y="4238625"/>
            <a:ext cx="2952750" cy="1076324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9823DE-6A69-42E8-9BE3-7E6D9BA520A0}"/>
              </a:ext>
            </a:extLst>
          </p:cNvPr>
          <p:cNvSpPr>
            <a:spLocks noGrp="1"/>
          </p:cNvSpPr>
          <p:nvPr/>
        </p:nvSpPr>
        <p:spPr>
          <a:xfrm>
            <a:off x="4867275" y="43624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C4862C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C4862C"/>
                </a:solidFill>
                <a:latin typeface="Aptos"/>
                <a:ea typeface="Aptos"/>
                <a:cs typeface="Aptos"/>
              </a:rPr>
              <a:t>Escalable</a:t>
            </a:r>
            <a:endParaRPr sz="1600" b="1" dirty="0">
              <a:solidFill>
                <a:srgbClr val="C486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040C07-6220-4A80-AA64-65E3D868CFFD}"/>
              </a:ext>
            </a:extLst>
          </p:cNvPr>
          <p:cNvSpPr>
            <a:spLocks noGrp="1"/>
          </p:cNvSpPr>
          <p:nvPr/>
        </p:nvSpPr>
        <p:spPr>
          <a:xfrm>
            <a:off x="4867274" y="4633911"/>
            <a:ext cx="254352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Puede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empezar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con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revisión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diaria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evolucionar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a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integración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automática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50ADFF-A301-4328-BCB4-C868EB4418A2}"/>
              </a:ext>
            </a:extLst>
          </p:cNvPr>
          <p:cNvSpPr>
            <a:spLocks noGrp="1"/>
          </p:cNvSpPr>
          <p:nvPr/>
        </p:nvSpPr>
        <p:spPr>
          <a:xfrm>
            <a:off x="8382000" y="4238624"/>
            <a:ext cx="2952750" cy="1076325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7A4104-11E1-4A0B-86D3-EF9A882A140E}"/>
              </a:ext>
            </a:extLst>
          </p:cNvPr>
          <p:cNvSpPr>
            <a:spLocks noGrp="1"/>
          </p:cNvSpPr>
          <p:nvPr/>
        </p:nvSpPr>
        <p:spPr>
          <a:xfrm>
            <a:off x="8629650" y="4333875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sz="1600" b="1" dirty="0" err="1">
                <a:solidFill>
                  <a:srgbClr val="D95D39"/>
                </a:solidFill>
                <a:latin typeface="Aptos"/>
                <a:ea typeface="Aptos"/>
                <a:cs typeface="Aptos"/>
              </a:rPr>
              <a:t>Siguiente</a:t>
            </a:r>
            <a:r>
              <a:rPr sz="1600" b="1" dirty="0">
                <a:solidFill>
                  <a:srgbClr val="D95D39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D95D39"/>
                </a:solidFill>
                <a:latin typeface="Aptos"/>
                <a:ea typeface="Aptos"/>
                <a:cs typeface="Aptos"/>
              </a:rPr>
              <a:t>mejora</a:t>
            </a:r>
            <a:endParaRPr sz="1600" b="1" dirty="0">
              <a:solidFill>
                <a:srgbClr val="D95D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7CEFAF-EB5D-421C-ADEE-50D6543810AB}"/>
              </a:ext>
            </a:extLst>
          </p:cNvPr>
          <p:cNvSpPr>
            <a:spLocks noGrp="1"/>
          </p:cNvSpPr>
          <p:nvPr/>
        </p:nvSpPr>
        <p:spPr>
          <a:xfrm>
            <a:off x="8629650" y="4638675"/>
            <a:ext cx="2621626" cy="619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Añadir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coste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real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por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cancelación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margen</a:t>
            </a:r>
            <a:r>
              <a:rPr lang="en-US" sz="120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disponibilida</a:t>
            </a:r>
            <a:r>
              <a:rPr lang="en-US" sz="1200" b="0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</a:t>
            </a:r>
            <a:r>
              <a:rPr lang="en-US"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.</a:t>
            </a:r>
            <a:endParaRPr sz="1200" b="0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4991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39611F3-AF2F-4A84-97DA-AD5CC72345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EF54B55E-8B11-4025-8421-5EF03B9D67AE}"/>
              </a:ext>
            </a:extLst>
          </p:cNvPr>
          <p:cNvSpPr>
            <a:spLocks noGrp="1"/>
          </p:cNvSpPr>
          <p:nvPr/>
        </p:nvSpPr>
        <p:spPr>
          <a:xfrm>
            <a:off x="571500" y="409575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73A48641-4D87-4D1C-807B-9C6469BE0390}"/>
              </a:ext>
            </a:extLst>
          </p:cNvPr>
          <p:cNvSpPr>
            <a:spLocks noGrp="1"/>
          </p:cNvSpPr>
          <p:nvPr/>
        </p:nvSpPr>
        <p:spPr>
          <a:xfrm>
            <a:off x="1123950" y="409575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16D84AC2-C449-461B-ABC5-CC789A17B947}"/>
              </a:ext>
            </a:extLst>
          </p:cNvPr>
          <p:cNvSpPr>
            <a:spLocks noGrp="1"/>
          </p:cNvSpPr>
          <p:nvPr/>
        </p:nvSpPr>
        <p:spPr>
          <a:xfrm>
            <a:off x="571500" y="561975"/>
            <a:ext cx="742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GOBIERNO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E8D57A-1B16-4634-A171-032BAF7806DD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El </a:t>
            </a:r>
            <a:r>
              <a:rPr sz="24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impacto</a:t>
            </a:r>
            <a:r>
              <a:rPr sz="24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debe</a:t>
            </a:r>
            <a:r>
              <a:rPr sz="24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medirse</a:t>
            </a:r>
            <a:r>
              <a:rPr sz="24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con </a:t>
            </a:r>
            <a:r>
              <a:rPr sz="24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indicadores</a:t>
            </a:r>
            <a:r>
              <a:rPr sz="24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4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negocio</a:t>
            </a:r>
            <a:r>
              <a:rPr sz="24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4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controles</a:t>
            </a:r>
            <a:r>
              <a:rPr sz="24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400" b="1" dirty="0" err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riesgo</a:t>
            </a:r>
            <a:endParaRPr sz="2400" b="1" dirty="0">
              <a:solidFill>
                <a:srgbClr val="1721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A4591-9D59-4BAE-A0EF-9C98BE7A314A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7F78F7-C165-438B-BBB0-F1A1397B3611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Fuente: Hotel Booking Demand (Kaggle) + demo operativa propia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F06944-AFDD-4684-9AD6-FC23C99E8F56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</a:t>
            </a:r>
            <a:r>
              <a:rPr lang="en-US" sz="90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8</a:t>
            </a:r>
            <a:r>
              <a:rPr sz="9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/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888DD0-93C2-4F70-8D13-7CE15BF61B8C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5238750" cy="3638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5FF58-8D84-47CF-B0B2-413BF2C55E0F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438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b="1" dirty="0" err="1">
                <a:solidFill>
                  <a:srgbClr val="0E7C7B"/>
                </a:solidFill>
                <a:latin typeface="Aptos"/>
                <a:ea typeface="Aptos"/>
                <a:cs typeface="Aptos"/>
              </a:rPr>
              <a:t>Indicadores</a:t>
            </a:r>
            <a:r>
              <a:rPr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 para </a:t>
            </a:r>
            <a:r>
              <a:rPr b="1" dirty="0" err="1">
                <a:solidFill>
                  <a:srgbClr val="0E7C7B"/>
                </a:solidFill>
                <a:latin typeface="Aptos"/>
                <a:ea typeface="Aptos"/>
                <a:cs typeface="Aptos"/>
              </a:rPr>
              <a:t>evaluar</a:t>
            </a:r>
            <a:r>
              <a:rPr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 </a:t>
            </a:r>
            <a:r>
              <a:rPr b="1" dirty="0" err="1">
                <a:solidFill>
                  <a:srgbClr val="0E7C7B"/>
                </a:solidFill>
                <a:latin typeface="Aptos"/>
                <a:ea typeface="Aptos"/>
                <a:cs typeface="Aptos"/>
              </a:rPr>
              <a:t>éxito</a:t>
            </a:r>
            <a:endParaRPr b="1" dirty="0">
              <a:solidFill>
                <a:srgbClr val="0E7C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BDC951-60E6-4FE8-904D-D4FCDF596428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95250" cy="952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52BCD5-D364-412C-95ED-24DE04A27B3E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Ocupación</a:t>
            </a:r>
            <a:r>
              <a:rPr sz="1400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prevista</a:t>
            </a:r>
            <a:endParaRPr sz="1400" b="1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940EB9-67D2-4E01-BE81-65ADE82B443E}"/>
              </a:ext>
            </a:extLst>
          </p:cNvPr>
          <p:cNvSpPr>
            <a:spLocks noGrp="1"/>
          </p:cNvSpPr>
          <p:nvPr/>
        </p:nvSpPr>
        <p:spPr>
          <a:xfrm>
            <a:off x="3105150" y="26670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menor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error entre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previsión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realidad</a:t>
            </a:r>
            <a:endParaRPr sz="12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35D2E6-FB2C-4914-AEA2-09FF17B871D2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95250" cy="952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1F33D4-2A5E-4E19-9119-CF090003CF14}"/>
              </a:ext>
            </a:extLst>
          </p:cNvPr>
          <p:cNvSpPr>
            <a:spLocks noGrp="1"/>
          </p:cNvSpPr>
          <p:nvPr/>
        </p:nvSpPr>
        <p:spPr>
          <a:xfrm>
            <a:off x="1143000" y="32575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Alertas útiles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93940F-1A60-45F0-8249-D6AC33FDF7A6}"/>
              </a:ext>
            </a:extLst>
          </p:cNvPr>
          <p:cNvSpPr>
            <a:spLocks noGrp="1"/>
          </p:cNvSpPr>
          <p:nvPr/>
        </p:nvSpPr>
        <p:spPr>
          <a:xfrm>
            <a:off x="3105150" y="32575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porcentaje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aceptado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por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el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equipo</a:t>
            </a:r>
            <a:endParaRPr sz="12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1E9484-CF75-409F-92D8-9909A0A6F15A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95250" cy="952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81E310-7EEB-428F-BBD2-5301E0FC6A84}"/>
              </a:ext>
            </a:extLst>
          </p:cNvPr>
          <p:cNvSpPr>
            <a:spLocks noGrp="1"/>
          </p:cNvSpPr>
          <p:nvPr/>
        </p:nvSpPr>
        <p:spPr>
          <a:xfrm>
            <a:off x="1143000" y="3848099"/>
            <a:ext cx="1657350" cy="20955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Ingresos</a:t>
            </a:r>
            <a:r>
              <a:rPr sz="1400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protegidos</a:t>
            </a:r>
            <a:endParaRPr sz="1400" b="1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D9F5F-93D9-4C4D-B2F0-D57088B390C5}"/>
              </a:ext>
            </a:extLst>
          </p:cNvPr>
          <p:cNvSpPr>
            <a:spLocks noGrp="1"/>
          </p:cNvSpPr>
          <p:nvPr/>
        </p:nvSpPr>
        <p:spPr>
          <a:xfrm>
            <a:off x="3105150" y="38481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margen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reservas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recuperadas</a:t>
            </a:r>
            <a:endParaRPr sz="12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328250-5501-4134-9B5D-6FDE9786D13B}"/>
              </a:ext>
            </a:extLst>
          </p:cNvPr>
          <p:cNvSpPr>
            <a:spLocks noGrp="1"/>
          </p:cNvSpPr>
          <p:nvPr/>
        </p:nvSpPr>
        <p:spPr>
          <a:xfrm>
            <a:off x="914400" y="4514850"/>
            <a:ext cx="95250" cy="9525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CF45A2-DE07-4DF1-930F-E0C62B332842}"/>
              </a:ext>
            </a:extLst>
          </p:cNvPr>
          <p:cNvSpPr>
            <a:spLocks noGrp="1"/>
          </p:cNvSpPr>
          <p:nvPr/>
        </p:nvSpPr>
        <p:spPr>
          <a:xfrm>
            <a:off x="1143000" y="44386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Eficiencia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3DB143-B039-4708-92DA-7D7AE97997D3}"/>
              </a:ext>
            </a:extLst>
          </p:cNvPr>
          <p:cNvSpPr>
            <a:spLocks noGrp="1"/>
          </p:cNvSpPr>
          <p:nvPr/>
        </p:nvSpPr>
        <p:spPr>
          <a:xfrm>
            <a:off x="3105150" y="44386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menos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revisión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manual de bajo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riesgo</a:t>
            </a:r>
            <a:endParaRPr sz="12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D979C2-AE18-4B05-A02C-B50CFB5C7FEE}"/>
              </a:ext>
            </a:extLst>
          </p:cNvPr>
          <p:cNvSpPr>
            <a:spLocks noGrp="1"/>
          </p:cNvSpPr>
          <p:nvPr/>
        </p:nvSpPr>
        <p:spPr>
          <a:xfrm>
            <a:off x="6381750" y="1943100"/>
            <a:ext cx="5238750" cy="3638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DE117-EAC3-4CBC-9825-6A67044C3FAD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438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D95D39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5D39"/>
                </a:solidFill>
                <a:latin typeface="Aptos"/>
                <a:ea typeface="Aptos"/>
                <a:cs typeface="Aptos"/>
              </a:rPr>
              <a:t>Riesgos y mitigación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93E407-5579-436B-AF5D-3D5F9CDD6D40}"/>
              </a:ext>
            </a:extLst>
          </p:cNvPr>
          <p:cNvSpPr>
            <a:spLocks noGrp="1"/>
          </p:cNvSpPr>
          <p:nvPr/>
        </p:nvSpPr>
        <p:spPr>
          <a:xfrm>
            <a:off x="6724650" y="2743200"/>
            <a:ext cx="95250" cy="952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D1109D-7FAE-40A9-8337-EA84B574E021}"/>
              </a:ext>
            </a:extLst>
          </p:cNvPr>
          <p:cNvSpPr>
            <a:spLocks noGrp="1"/>
          </p:cNvSpPr>
          <p:nvPr/>
        </p:nvSpPr>
        <p:spPr>
          <a:xfrm>
            <a:off x="6953250" y="26670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Falsas alarmas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B9AD31-628C-4FF0-A6CE-6FBE21848075}"/>
              </a:ext>
            </a:extLst>
          </p:cNvPr>
          <p:cNvSpPr>
            <a:spLocks noGrp="1"/>
          </p:cNvSpPr>
          <p:nvPr/>
        </p:nvSpPr>
        <p:spPr>
          <a:xfrm>
            <a:off x="8858250" y="2666999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definir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criterios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alerta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revisión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humana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1915E5-E900-4352-9594-212C970B2BA5}"/>
              </a:ext>
            </a:extLst>
          </p:cNvPr>
          <p:cNvSpPr>
            <a:spLocks noGrp="1"/>
          </p:cNvSpPr>
          <p:nvPr/>
        </p:nvSpPr>
        <p:spPr>
          <a:xfrm>
            <a:off x="6724650" y="3333750"/>
            <a:ext cx="95250" cy="952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A015A0-DD31-41D2-8F53-DD5EA6910D96}"/>
              </a:ext>
            </a:extLst>
          </p:cNvPr>
          <p:cNvSpPr>
            <a:spLocks noGrp="1"/>
          </p:cNvSpPr>
          <p:nvPr/>
        </p:nvSpPr>
        <p:spPr>
          <a:xfrm>
            <a:off x="6953250" y="32575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Datos desactualizados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0178CA-EC70-46A6-8854-D755ACEFE1B1}"/>
              </a:ext>
            </a:extLst>
          </p:cNvPr>
          <p:cNvSpPr>
            <a:spLocks noGrp="1"/>
          </p:cNvSpPr>
          <p:nvPr/>
        </p:nvSpPr>
        <p:spPr>
          <a:xfrm>
            <a:off x="8858250" y="3257549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revisar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cambios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actualizar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la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solución</a:t>
            </a:r>
            <a:endParaRPr sz="12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D43E26-2340-4DFC-BDB5-122B8349F275}"/>
              </a:ext>
            </a:extLst>
          </p:cNvPr>
          <p:cNvSpPr>
            <a:spLocks noGrp="1"/>
          </p:cNvSpPr>
          <p:nvPr/>
        </p:nvSpPr>
        <p:spPr>
          <a:xfrm>
            <a:off x="6724650" y="3924300"/>
            <a:ext cx="95250" cy="952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34EF22-3539-406E-B2C1-D4E9C6D5C433}"/>
              </a:ext>
            </a:extLst>
          </p:cNvPr>
          <p:cNvSpPr>
            <a:spLocks noGrp="1"/>
          </p:cNvSpPr>
          <p:nvPr/>
        </p:nvSpPr>
        <p:spPr>
          <a:xfrm>
            <a:off x="6953250" y="3848099"/>
            <a:ext cx="1463386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Experiencia</a:t>
            </a:r>
            <a:r>
              <a:rPr sz="1400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cliente</a:t>
            </a:r>
            <a:endParaRPr sz="1400" b="1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877223-E8AE-49A5-9EFF-88B8DA215C97}"/>
              </a:ext>
            </a:extLst>
          </p:cNvPr>
          <p:cNvSpPr>
            <a:spLocks noGrp="1"/>
          </p:cNvSpPr>
          <p:nvPr/>
        </p:nvSpPr>
        <p:spPr>
          <a:xfrm>
            <a:off x="8858250" y="3848099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evitar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acciones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automáticas</a:t>
            </a:r>
            <a:r>
              <a:rPr sz="12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restrictivas</a:t>
            </a:r>
            <a:endParaRPr sz="12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D5F743-F253-490E-AE8C-E579FC14A137}"/>
              </a:ext>
            </a:extLst>
          </p:cNvPr>
          <p:cNvSpPr>
            <a:spLocks noGrp="1"/>
          </p:cNvSpPr>
          <p:nvPr/>
        </p:nvSpPr>
        <p:spPr>
          <a:xfrm>
            <a:off x="6724650" y="4514850"/>
            <a:ext cx="95250" cy="95250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AF4D71-8863-4E1A-B7E9-B8C483B5FB1D}"/>
              </a:ext>
            </a:extLst>
          </p:cNvPr>
          <p:cNvSpPr>
            <a:spLocks noGrp="1"/>
          </p:cNvSpPr>
          <p:nvPr/>
        </p:nvSpPr>
        <p:spPr>
          <a:xfrm>
            <a:off x="6953250" y="44386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Retorno incierto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D9EF8A-CB01-4556-98FC-95828FE32E3C}"/>
              </a:ext>
            </a:extLst>
          </p:cNvPr>
          <p:cNvSpPr>
            <a:spLocks noGrp="1"/>
          </p:cNvSpPr>
          <p:nvPr/>
        </p:nvSpPr>
        <p:spPr>
          <a:xfrm>
            <a:off x="8858250" y="4438649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medir ahorro con costes reales de cancelación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F76EEB-E2FA-4C01-8571-3F12AD204B5E}"/>
              </a:ext>
            </a:extLst>
          </p:cNvPr>
          <p:cNvSpPr>
            <a:spLocks noGrp="1"/>
          </p:cNvSpPr>
          <p:nvPr/>
        </p:nvSpPr>
        <p:spPr>
          <a:xfrm>
            <a:off x="2019300" y="5829300"/>
            <a:ext cx="815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6B6D"/>
                </a:solidFill>
                <a:latin typeface="Aptos"/>
                <a:ea typeface="Aptos"/>
                <a:cs typeface="Aptos"/>
              </a:rPr>
              <a:t>La decisión final sigue siendo de negocio: el modelo ordena prioridades y hace visible el riesgo.</a:t>
            </a:r>
          </a:p>
        </p:txBody>
      </p:sp>
    </p:spTree>
    <p:extLst>
      <p:ext uri="{BB962C8B-B14F-4D97-AF65-F5344CB8AC3E}">
        <p14:creationId xmlns:p14="http://schemas.microsoft.com/office/powerpoint/2010/main" val="195720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75DDC95-A38D-4EF6-A1B9-6EF1B78D31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56307330-96BD-442D-8E4E-F9DB112F0F2F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6CD7AE0E-EF90-46DF-92ED-C390CF0EACC2}"/>
              </a:ext>
            </a:extLst>
          </p:cNvPr>
          <p:cNvSpPr>
            <a:spLocks noGrp="1"/>
          </p:cNvSpPr>
          <p:nvPr/>
        </p:nvSpPr>
        <p:spPr>
          <a:xfrm>
            <a:off x="1123950" y="476250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39CF43-5138-4B50-AE1C-5E34B212D80C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DEMO EN DIRECTO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00289F-358D-49F5-BE38-BAD163DDC92F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6191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6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Abrimos la demo y simulamos una reserva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7F0C41-A63F-4155-B3BD-0D55F6ADF4AC}"/>
              </a:ext>
            </a:extLst>
          </p:cNvPr>
          <p:cNvSpPr>
            <a:spLocks noGrp="1"/>
          </p:cNvSpPr>
          <p:nvPr/>
        </p:nvSpPr>
        <p:spPr>
          <a:xfrm>
            <a:off x="590549" y="2781300"/>
            <a:ext cx="5984817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575" b="1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575" b="1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de la demo: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mostrar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cómo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introdu</a:t>
            </a:r>
            <a:r>
              <a:rPr lang="en-US" sz="1575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cir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los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datos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una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reserva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en</a:t>
            </a:r>
            <a:r>
              <a:rPr lang="en-US"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la app 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y </a:t>
            </a:r>
            <a:r>
              <a:rPr sz="1575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recibe</a:t>
            </a:r>
            <a:r>
              <a:rPr lang="en-US" sz="1575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s</a:t>
            </a:r>
            <a:r>
              <a:rPr sz="1575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una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prioridad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de </a:t>
            </a:r>
            <a:r>
              <a:rPr sz="1575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actuación</a:t>
            </a:r>
            <a:r>
              <a:rPr sz="1575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6442D-F365-4340-9FD4-9490D4C620DF}"/>
              </a:ext>
            </a:extLst>
          </p:cNvPr>
          <p:cNvSpPr>
            <a:spLocks noGrp="1"/>
          </p:cNvSpPr>
          <p:nvPr/>
        </p:nvSpPr>
        <p:spPr>
          <a:xfrm>
            <a:off x="590550" y="3829050"/>
            <a:ext cx="5810250" cy="990600"/>
          </a:xfrm>
          <a:prstGeom prst="rect">
            <a:avLst/>
          </a:prstGeom>
          <a:solidFill>
            <a:srgbClr val="DAE8E1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1E0E2E-26C6-46BA-82A6-76D6E3E9D3B5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Link demo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C111F-BAD1-49A9-8BC7-C19128DE6F22}"/>
              </a:ext>
            </a:extLst>
          </p:cNvPr>
          <p:cNvSpPr>
            <a:spLocks noGrp="1"/>
          </p:cNvSpPr>
          <p:nvPr/>
        </p:nvSpPr>
        <p:spPr>
          <a:xfrm>
            <a:off x="2590800" y="4019550"/>
            <a:ext cx="323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http://localhost:8501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2D9283-F94B-42AC-A3F8-987D3D494481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Demo local </a:t>
            </a:r>
            <a:r>
              <a:rPr sz="14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preparada</a:t>
            </a:r>
            <a:r>
              <a:rPr sz="14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para la </a:t>
            </a:r>
            <a:r>
              <a:rPr sz="14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presentación</a:t>
            </a:r>
            <a:endParaRPr sz="1400" b="0" dirty="0">
              <a:solidFill>
                <a:srgbClr val="5F6B6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5E148-9225-4C47-904B-D7A02CA11905}"/>
              </a:ext>
            </a:extLst>
          </p:cNvPr>
          <p:cNvSpPr>
            <a:spLocks noGrp="1"/>
          </p:cNvSpPr>
          <p:nvPr/>
        </p:nvSpPr>
        <p:spPr>
          <a:xfrm>
            <a:off x="7239000" y="1123950"/>
            <a:ext cx="3714750" cy="426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856FAF-A1F6-4FB2-B4BB-400609D5698F}"/>
              </a:ext>
            </a:extLst>
          </p:cNvPr>
          <p:cNvSpPr>
            <a:spLocks noGrp="1"/>
          </p:cNvSpPr>
          <p:nvPr/>
        </p:nvSpPr>
        <p:spPr>
          <a:xfrm>
            <a:off x="7239000" y="1123950"/>
            <a:ext cx="3714750" cy="857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44556D-131F-43B6-A4E7-7D360ADCB829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Guion de la demo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D9A0D5-F3F2-4E46-B065-655284DD7A4F}"/>
              </a:ext>
            </a:extLst>
          </p:cNvPr>
          <p:cNvSpPr>
            <a:spLocks noGrp="1"/>
          </p:cNvSpPr>
          <p:nvPr/>
        </p:nvSpPr>
        <p:spPr>
          <a:xfrm>
            <a:off x="7677150" y="20955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 Elegir un escenario de reserva.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E48A22-BBE0-43DD-B76B-93E32805BA4D}"/>
              </a:ext>
            </a:extLst>
          </p:cNvPr>
          <p:cNvSpPr>
            <a:spLocks noGrp="1"/>
          </p:cNvSpPr>
          <p:nvPr/>
        </p:nvSpPr>
        <p:spPr>
          <a:xfrm>
            <a:off x="7677150" y="26479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 Ajustar antelación, canal, depósito e historial.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2C51E4-1375-4487-A1B3-D7769A37BD9E}"/>
              </a:ext>
            </a:extLst>
          </p:cNvPr>
          <p:cNvSpPr>
            <a:spLocks noGrp="1"/>
          </p:cNvSpPr>
          <p:nvPr/>
        </p:nvSpPr>
        <p:spPr>
          <a:xfrm>
            <a:off x="7677150" y="32004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 Leer riesgo estimado y prioridad.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657E1-0FDE-4FC0-8FFE-EA472299A03C}"/>
              </a:ext>
            </a:extLst>
          </p:cNvPr>
          <p:cNvSpPr>
            <a:spLocks noGrp="1"/>
          </p:cNvSpPr>
          <p:nvPr/>
        </p:nvSpPr>
        <p:spPr>
          <a:xfrm>
            <a:off x="7677150" y="37528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 Explicar el plan de acción sugerido.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F03556-8FF1-488E-A36D-F7C83A5348DA}"/>
              </a:ext>
            </a:extLst>
          </p:cNvPr>
          <p:cNvSpPr>
            <a:spLocks noGrp="1"/>
          </p:cNvSpPr>
          <p:nvPr/>
        </p:nvSpPr>
        <p:spPr>
          <a:xfrm>
            <a:off x="7734300" y="4476750"/>
            <a:ext cx="27241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4CE4FB-FC8B-4B79-98C4-D962DA4F1C71}"/>
              </a:ext>
            </a:extLst>
          </p:cNvPr>
          <p:cNvSpPr>
            <a:spLocks noGrp="1"/>
          </p:cNvSpPr>
          <p:nvPr/>
        </p:nvSpPr>
        <p:spPr>
          <a:xfrm>
            <a:off x="7658100" y="4743450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Gracias. Turno de preguntas tras la demo.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94EC3F-EB49-49DB-84EB-AAD4D7FE9151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84788D-F7EE-411F-87A7-AECCFE5149DB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Demo operativa local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32FEB6-2386-4440-8D59-0069ADD25E3F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lang="en-US" sz="9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09 </a:t>
            </a:r>
            <a:r>
              <a:rPr sz="9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/ 10</a:t>
            </a:r>
          </a:p>
        </p:txBody>
      </p:sp>
    </p:spTree>
    <p:extLst>
      <p:ext uri="{BB962C8B-B14F-4D97-AF65-F5344CB8AC3E}">
        <p14:creationId xmlns:p14="http://schemas.microsoft.com/office/powerpoint/2010/main" val="174564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4F5CD-CE5C-6B03-B8EB-951992FB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01BA05C-950C-7B44-732C-602AD46DBC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teal">
            <a:extLst>
              <a:ext uri="{FF2B5EF4-FFF2-40B4-BE49-F238E27FC236}">
                <a16:creationId xmlns:a16="http://schemas.microsoft.com/office/drawing/2014/main" id="{949C13CB-2977-D62C-FC7E-1D6E79449A4E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495300" cy="47625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-coral">
            <a:extLst>
              <a:ext uri="{FF2B5EF4-FFF2-40B4-BE49-F238E27FC236}">
                <a16:creationId xmlns:a16="http://schemas.microsoft.com/office/drawing/2014/main" id="{79EFB272-9B8C-9B39-1CD7-2A58C6A22AB3}"/>
              </a:ext>
            </a:extLst>
          </p:cNvPr>
          <p:cNvSpPr>
            <a:spLocks noGrp="1"/>
          </p:cNvSpPr>
          <p:nvPr/>
        </p:nvSpPr>
        <p:spPr>
          <a:xfrm>
            <a:off x="1123950" y="476250"/>
            <a:ext cx="171450" cy="476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8419D1-0C22-C46E-AC8A-504737049FBF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lang="en-US" sz="1200" b="1" dirty="0">
                <a:solidFill>
                  <a:srgbClr val="0E7C7B"/>
                </a:solidFill>
                <a:latin typeface="Aptos"/>
                <a:ea typeface="Aptos"/>
                <a:cs typeface="Aptos"/>
              </a:rPr>
              <a:t>Cierre</a:t>
            </a:r>
            <a:endParaRPr sz="1100" b="1" dirty="0">
              <a:solidFill>
                <a:srgbClr val="0E7C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6F7C93-50C1-EDDB-C48E-ECCFCBA5F2A3}"/>
              </a:ext>
            </a:extLst>
          </p:cNvPr>
          <p:cNvSpPr>
            <a:spLocks noGrp="1"/>
          </p:cNvSpPr>
          <p:nvPr/>
        </p:nvSpPr>
        <p:spPr>
          <a:xfrm>
            <a:off x="571500" y="6334125"/>
            <a:ext cx="1000125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1B97B2-D056-5819-D1B3-ED4142945ED3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Demo operativa local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7D2AB1-9C0C-7007-0605-008CCA510927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lang="en-US" sz="9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09 </a:t>
            </a:r>
            <a:r>
              <a:rPr sz="9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/ 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856214-6C74-CACE-01AB-C65D1BAA5E1A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6572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Gracias!!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C2024C-C7EF-AB1C-556C-5511484B3584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E7C7B"/>
                </a:solidFill>
                <a:latin typeface="Aptos Display"/>
                <a:ea typeface="Aptos Display"/>
                <a:cs typeface="Aptos Display"/>
              </a:rPr>
              <a:t>Turno de preguntas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CF6036-F453-663A-3B6A-76A88C23BB2A}"/>
              </a:ext>
            </a:extLst>
          </p:cNvPr>
          <p:cNvSpPr>
            <a:spLocks noGrp="1"/>
          </p:cNvSpPr>
          <p:nvPr/>
        </p:nvSpPr>
        <p:spPr>
          <a:xfrm>
            <a:off x="590550" y="2971800"/>
            <a:ext cx="666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Predicción</a:t>
            </a:r>
            <a:r>
              <a:rPr sz="15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de </a:t>
            </a:r>
            <a:r>
              <a:rPr sz="15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cancelaciones</a:t>
            </a:r>
            <a:r>
              <a:rPr sz="15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hoteleras</a:t>
            </a:r>
            <a:r>
              <a:rPr sz="15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· Presentación </a:t>
            </a:r>
            <a:r>
              <a:rPr lang="en-US" sz="1500" b="0" dirty="0" err="1">
                <a:solidFill>
                  <a:srgbClr val="5F6B6D"/>
                </a:solidFill>
                <a:latin typeface="Aptos"/>
                <a:ea typeface="Aptos"/>
                <a:cs typeface="Aptos"/>
              </a:rPr>
              <a:t>negocio</a:t>
            </a:r>
            <a:r>
              <a:rPr lang="en-US" sz="15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>
                <a:solidFill>
                  <a:srgbClr val="5F6B6D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E4D8EB-428C-630B-9B28-4B305CE5DC95}"/>
              </a:ext>
            </a:extLst>
          </p:cNvPr>
          <p:cNvSpPr>
            <a:spLocks noGrp="1"/>
          </p:cNvSpPr>
          <p:nvPr/>
        </p:nvSpPr>
        <p:spPr>
          <a:xfrm>
            <a:off x="7810500" y="988609"/>
            <a:ext cx="3143250" cy="4400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3043F3-9192-D417-B3CB-9E8413BCC8DF}"/>
              </a:ext>
            </a:extLst>
          </p:cNvPr>
          <p:cNvSpPr>
            <a:spLocks noGrp="1"/>
          </p:cNvSpPr>
          <p:nvPr/>
        </p:nvSpPr>
        <p:spPr>
          <a:xfrm>
            <a:off x="7810500" y="988609"/>
            <a:ext cx="3143250" cy="85725"/>
          </a:xfrm>
          <a:prstGeom prst="rect">
            <a:avLst/>
          </a:prstGeom>
          <a:solidFill>
            <a:srgbClr val="D95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Picture 10">
            <a:extLst>
              <a:ext uri="{FF2B5EF4-FFF2-40B4-BE49-F238E27FC236}">
                <a16:creationId xmlns:a16="http://schemas.microsoft.com/office/drawing/2014/main" id="{558D3B6E-471A-F194-DBC7-E77ADDBA0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24875" y="1407709"/>
            <a:ext cx="1714500" cy="17145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618C214-40A6-CB2B-244A-81AAC3616749}"/>
              </a:ext>
            </a:extLst>
          </p:cNvPr>
          <p:cNvSpPr>
            <a:spLocks noGrp="1"/>
          </p:cNvSpPr>
          <p:nvPr/>
        </p:nvSpPr>
        <p:spPr>
          <a:xfrm>
            <a:off x="8191500" y="3391957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35" b="1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5F6B6D"/>
                </a:solidFill>
                <a:latin typeface="Aptos"/>
                <a:ea typeface="Aptos"/>
                <a:cs typeface="Aptos"/>
              </a:rPr>
              <a:t>Autor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4991FA-5781-5C79-711E-4E349A2102C2}"/>
              </a:ext>
            </a:extLst>
          </p:cNvPr>
          <p:cNvSpPr>
            <a:spLocks noGrp="1"/>
          </p:cNvSpPr>
          <p:nvPr/>
        </p:nvSpPr>
        <p:spPr>
          <a:xfrm>
            <a:off x="8191500" y="3620557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28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228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Ander Heriz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11F1C9-93CB-3E61-FD4A-666541864EF3}"/>
              </a:ext>
            </a:extLst>
          </p:cNvPr>
          <p:cNvSpPr>
            <a:spLocks noGrp="1"/>
          </p:cNvSpPr>
          <p:nvPr/>
        </p:nvSpPr>
        <p:spPr>
          <a:xfrm>
            <a:off x="8191500" y="4131859"/>
            <a:ext cx="238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Bootcamp de Data Science</a:t>
            </a:r>
          </a:p>
          <a:p>
            <a:pPr algn="ctr">
              <a:buNone/>
              <a:defRPr sz="1350" b="0">
                <a:solidFill>
                  <a:srgbClr val="5F6B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D"/>
                </a:solidFill>
                <a:latin typeface="Aptos"/>
                <a:ea typeface="Aptos"/>
                <a:cs typeface="Aptos"/>
              </a:rPr>
              <a:t>de The Bridge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54F742-707F-2E83-7BD0-34A74282E3B8}"/>
              </a:ext>
            </a:extLst>
          </p:cNvPr>
          <p:cNvSpPr>
            <a:spLocks noGrp="1"/>
          </p:cNvSpPr>
          <p:nvPr/>
        </p:nvSpPr>
        <p:spPr>
          <a:xfrm>
            <a:off x="8220075" y="4760509"/>
            <a:ext cx="2324100" cy="14288"/>
          </a:xfrm>
          <a:prstGeom prst="rect">
            <a:avLst/>
          </a:prstGeom>
          <a:solidFill>
            <a:srgbClr val="D8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A503E6-769B-F929-0358-C14AB3BB8AE1}"/>
              </a:ext>
            </a:extLst>
          </p:cNvPr>
          <p:cNvSpPr>
            <a:spLocks noGrp="1"/>
          </p:cNvSpPr>
          <p:nvPr/>
        </p:nvSpPr>
        <p:spPr>
          <a:xfrm>
            <a:off x="8191500" y="4931959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35" b="1">
                <a:solidFill>
                  <a:srgbClr val="0E7C7B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0E7C7B"/>
                </a:solidFill>
                <a:latin typeface="Aptos"/>
                <a:ea typeface="Aptos"/>
                <a:cs typeface="Aptos"/>
              </a:rPr>
              <a:t>Presentacion DS - Proyecto ML</a:t>
            </a:r>
          </a:p>
        </p:txBody>
      </p:sp>
    </p:spTree>
    <p:extLst>
      <p:ext uri="{BB962C8B-B14F-4D97-AF65-F5344CB8AC3E}">
        <p14:creationId xmlns:p14="http://schemas.microsoft.com/office/powerpoint/2010/main" val="19951743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907</Words>
  <Application>Microsoft Office PowerPoint</Application>
  <DocSecurity>0</DocSecurity>
  <PresentationFormat>Widescreen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Ander Heriz</cp:lastModifiedBy>
  <cp:revision>7</cp:revision>
  <dcterms:created xsi:type="dcterms:W3CDTF">2026-06-15T11:22:46Z</dcterms:created>
  <dcterms:modified xsi:type="dcterms:W3CDTF">2026-06-15T20:33:33Z</dcterms:modified>
</cp:coreProperties>
</file>